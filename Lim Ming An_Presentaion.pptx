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9" r:id="rId6"/>
    <p:sldId id="264" r:id="rId7"/>
    <p:sldId id="270" r:id="rId8"/>
    <p:sldId id="265" r:id="rId9"/>
    <p:sldId id="271" r:id="rId10"/>
    <p:sldId id="266" r:id="rId11"/>
    <p:sldId id="272"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4660"/>
  </p:normalViewPr>
  <p:slideViewPr>
    <p:cSldViewPr snapToGrid="0">
      <p:cViewPr varScale="1">
        <p:scale>
          <a:sx n="111" d="100"/>
          <a:sy n="111"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2507B-3AFC-A957-97EF-F7CCE2824F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96FC2BA2-A2A6-676A-2DAA-6C85125D5B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C8D2B343-FCBB-F6C9-77D8-E3C9FEE3D22C}"/>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5" name="Footer Placeholder 4">
            <a:extLst>
              <a:ext uri="{FF2B5EF4-FFF2-40B4-BE49-F238E27FC236}">
                <a16:creationId xmlns:a16="http://schemas.microsoft.com/office/drawing/2014/main" id="{EF5EFA48-13F4-91D2-846C-24B3B11ACFC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F639B8F-93B3-7519-04D4-A9204024237B}"/>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2129480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4FB6E-29EA-297D-2366-89FC4FEC24A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AE3617CC-8FC9-D365-46A1-512BD82C6E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E28EE64-9172-0BD5-8AC9-46A1A39CB7CE}"/>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5" name="Footer Placeholder 4">
            <a:extLst>
              <a:ext uri="{FF2B5EF4-FFF2-40B4-BE49-F238E27FC236}">
                <a16:creationId xmlns:a16="http://schemas.microsoft.com/office/drawing/2014/main" id="{AF4AE248-FF55-5FB5-A1E0-841D3206859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EFA19D5-EEC9-484A-5CD9-047814260B6B}"/>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103819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98682-7EA5-E237-2A46-DA1A95719B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FD92F00E-D584-2074-45F9-3BB8CA9B3C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8636F5-5DE2-5173-CEBD-6CED201DBA43}"/>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5" name="Footer Placeholder 4">
            <a:extLst>
              <a:ext uri="{FF2B5EF4-FFF2-40B4-BE49-F238E27FC236}">
                <a16:creationId xmlns:a16="http://schemas.microsoft.com/office/drawing/2014/main" id="{E6435372-E9B1-9357-EC4D-68B7BBE3294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793C7FF-F1E1-7384-2DA3-F1208513FD56}"/>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1839164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BF70-4914-DF16-85AE-03CA447607F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D428D58-0D26-8BB6-26DD-2FF7FD8349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8F529903-872B-4F44-8720-F2081CF301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F4D13D18-4FF8-0FCF-0CCA-7CD16B4BFAC4}"/>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6" name="Footer Placeholder 5">
            <a:extLst>
              <a:ext uri="{FF2B5EF4-FFF2-40B4-BE49-F238E27FC236}">
                <a16:creationId xmlns:a16="http://schemas.microsoft.com/office/drawing/2014/main" id="{676777B7-DC5A-F9BC-38CA-C1E0910DBF42}"/>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255ECDF-0E4E-D523-9967-44161545DC65}"/>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3810712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F7AD-95F5-9A02-54D4-5BF70425CF80}"/>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D08A707-153D-0AA3-7C47-C7EEC22DCA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42CD40-F5A1-D02E-A65B-4B3AC07458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57713803-40E0-9D58-7FAD-90739A6669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33ADA8-6778-FBFA-2621-06C50F12D7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FA02888-56C9-DF14-F13F-18E198EACB6C}"/>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8" name="Footer Placeholder 7">
            <a:extLst>
              <a:ext uri="{FF2B5EF4-FFF2-40B4-BE49-F238E27FC236}">
                <a16:creationId xmlns:a16="http://schemas.microsoft.com/office/drawing/2014/main" id="{23FFA897-F71B-7F20-3C8E-487F04BE477B}"/>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AEADA688-AF74-4409-F2FA-D10FAA4330FF}"/>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2000779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7549-7373-7B83-0FE0-AE47F06FB056}"/>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B4AC8D94-6193-B320-538D-EB6816228177}"/>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4" name="Footer Placeholder 3">
            <a:extLst>
              <a:ext uri="{FF2B5EF4-FFF2-40B4-BE49-F238E27FC236}">
                <a16:creationId xmlns:a16="http://schemas.microsoft.com/office/drawing/2014/main" id="{A1113ADF-662D-772D-FA81-1659CD6FF9AD}"/>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BB3694D2-17A8-B132-92E0-502AE6887536}"/>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2561240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8FEAC-B9B4-3F1E-9B80-E9C7217A3B31}"/>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3" name="Footer Placeholder 2">
            <a:extLst>
              <a:ext uri="{FF2B5EF4-FFF2-40B4-BE49-F238E27FC236}">
                <a16:creationId xmlns:a16="http://schemas.microsoft.com/office/drawing/2014/main" id="{7E8B66EF-E45E-B5DD-4E7D-9DE087E4D72C}"/>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8DEEC78D-9962-656B-B402-BCA90C41A25E}"/>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2663761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B67DC-AB84-1C65-F698-2AAAE0633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2FE4188D-92CC-9BFB-7958-FACC1E079C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52892E5D-78B7-F05D-25A7-FC24ECFB5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DDE8CB-26E5-9492-40FF-90141F4DDD41}"/>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6" name="Footer Placeholder 5">
            <a:extLst>
              <a:ext uri="{FF2B5EF4-FFF2-40B4-BE49-F238E27FC236}">
                <a16:creationId xmlns:a16="http://schemas.microsoft.com/office/drawing/2014/main" id="{E6BC130C-3186-11C6-67A2-D00F806A13D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9368F23B-C5B6-5A73-2821-93D919FDE495}"/>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2692392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6BD65-13D0-E22D-D596-B9503E748F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34262CC7-82C0-A93F-05D5-E0C26E5A06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A392C777-FBD2-8FB7-C424-E94AD64828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7FB799-0FA1-90B9-40F2-18C5A53F5E60}"/>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6" name="Footer Placeholder 5">
            <a:extLst>
              <a:ext uri="{FF2B5EF4-FFF2-40B4-BE49-F238E27FC236}">
                <a16:creationId xmlns:a16="http://schemas.microsoft.com/office/drawing/2014/main" id="{F1F74C45-4583-5B10-9F75-A96DB08E881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DEB1420-9A73-C036-24F3-80E466143B7F}"/>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2828374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EE6A1-9DA1-A821-CD07-51C592580D4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B314EA8A-EBBD-BAA1-302D-B5A6621BBD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5A10CFE-3D5D-1B15-D006-CD71F72E60CB}"/>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5" name="Footer Placeholder 4">
            <a:extLst>
              <a:ext uri="{FF2B5EF4-FFF2-40B4-BE49-F238E27FC236}">
                <a16:creationId xmlns:a16="http://schemas.microsoft.com/office/drawing/2014/main" id="{B30294A1-6D7D-6B25-959A-C835C25F0B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68E6649-8DA8-7B5E-CC0B-44245CD1C21B}"/>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326977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43554D-606F-4B1C-A512-DEF39690AB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414DEAD2-7A5A-A586-62D3-E7D63CC554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3E1C706-159A-CE59-4CF0-41B30E4A1FCE}"/>
              </a:ext>
            </a:extLst>
          </p:cNvPr>
          <p:cNvSpPr>
            <a:spLocks noGrp="1"/>
          </p:cNvSpPr>
          <p:nvPr>
            <p:ph type="dt" sz="half" idx="10"/>
          </p:nvPr>
        </p:nvSpPr>
        <p:spPr/>
        <p:txBody>
          <a:bodyPr/>
          <a:lstStyle/>
          <a:p>
            <a:fld id="{FF9BE3E9-B69A-43CB-A842-D27035C8EBBD}" type="datetimeFigureOut">
              <a:rPr lang="en-SG" smtClean="0"/>
              <a:t>5/6/2023</a:t>
            </a:fld>
            <a:endParaRPr lang="en-SG"/>
          </a:p>
        </p:txBody>
      </p:sp>
      <p:sp>
        <p:nvSpPr>
          <p:cNvPr id="5" name="Footer Placeholder 4">
            <a:extLst>
              <a:ext uri="{FF2B5EF4-FFF2-40B4-BE49-F238E27FC236}">
                <a16:creationId xmlns:a16="http://schemas.microsoft.com/office/drawing/2014/main" id="{CF56A080-2CBC-6485-C736-C403BE36D120}"/>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C606C9C9-441A-0F8A-5D27-FDAE541C6208}"/>
              </a:ext>
            </a:extLst>
          </p:cNvPr>
          <p:cNvSpPr>
            <a:spLocks noGrp="1"/>
          </p:cNvSpPr>
          <p:nvPr>
            <p:ph type="sldNum" sz="quarter" idx="12"/>
          </p:nvPr>
        </p:nvSpPr>
        <p:spPr/>
        <p:txBody>
          <a:bodyPr/>
          <a:lstStyle/>
          <a:p>
            <a:fld id="{AA86D976-C1AD-4786-9887-992ACD08A970}" type="slidenum">
              <a:rPr lang="en-SG" smtClean="0"/>
              <a:t>‹#›</a:t>
            </a:fld>
            <a:endParaRPr lang="en-SG"/>
          </a:p>
        </p:txBody>
      </p:sp>
    </p:spTree>
    <p:extLst>
      <p:ext uri="{BB962C8B-B14F-4D97-AF65-F5344CB8AC3E}">
        <p14:creationId xmlns:p14="http://schemas.microsoft.com/office/powerpoint/2010/main" val="358913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A345DA-1E67-FF31-FE30-9B3E27D8FB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7A5C6AF-69D6-7D9A-AFE4-8A986CA9EA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1809187-A869-E6D4-99F7-C1A1668ADC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9BE3E9-B69A-43CB-A842-D27035C8EBBD}" type="datetimeFigureOut">
              <a:rPr lang="en-SG" smtClean="0"/>
              <a:t>5/6/2023</a:t>
            </a:fld>
            <a:endParaRPr lang="en-SG"/>
          </a:p>
        </p:txBody>
      </p:sp>
      <p:sp>
        <p:nvSpPr>
          <p:cNvPr id="5" name="Footer Placeholder 4">
            <a:extLst>
              <a:ext uri="{FF2B5EF4-FFF2-40B4-BE49-F238E27FC236}">
                <a16:creationId xmlns:a16="http://schemas.microsoft.com/office/drawing/2014/main" id="{6FD90A8E-E0F0-E892-4707-A510041C09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F9E9A987-858B-A8B2-ED97-C3728B50A5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86D976-C1AD-4786-9887-992ACD08A970}" type="slidenum">
              <a:rPr lang="en-SG" smtClean="0"/>
              <a:t>‹#›</a:t>
            </a:fld>
            <a:endParaRPr lang="en-SG"/>
          </a:p>
        </p:txBody>
      </p:sp>
    </p:spTree>
    <p:extLst>
      <p:ext uri="{BB962C8B-B14F-4D97-AF65-F5344CB8AC3E}">
        <p14:creationId xmlns:p14="http://schemas.microsoft.com/office/powerpoint/2010/main" val="2653263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2354-0653-E6F2-F128-C0D12ED89087}"/>
              </a:ext>
            </a:extLst>
          </p:cNvPr>
          <p:cNvSpPr>
            <a:spLocks noGrp="1"/>
          </p:cNvSpPr>
          <p:nvPr>
            <p:ph type="ctrTitle"/>
          </p:nvPr>
        </p:nvSpPr>
        <p:spPr/>
        <p:txBody>
          <a:bodyPr/>
          <a:lstStyle/>
          <a:p>
            <a:r>
              <a:rPr lang="en-US" dirty="0"/>
              <a:t>CIFAR10 Image Classification</a:t>
            </a:r>
            <a:endParaRPr lang="en-SG" dirty="0"/>
          </a:p>
        </p:txBody>
      </p:sp>
      <p:sp>
        <p:nvSpPr>
          <p:cNvPr id="3" name="Subtitle 2">
            <a:extLst>
              <a:ext uri="{FF2B5EF4-FFF2-40B4-BE49-F238E27FC236}">
                <a16:creationId xmlns:a16="http://schemas.microsoft.com/office/drawing/2014/main" id="{F4D1A8F4-E8CF-93E0-AF2E-1E36852DC8A9}"/>
              </a:ext>
            </a:extLst>
          </p:cNvPr>
          <p:cNvSpPr>
            <a:spLocks noGrp="1"/>
          </p:cNvSpPr>
          <p:nvPr>
            <p:ph type="subTitle" idx="1"/>
          </p:nvPr>
        </p:nvSpPr>
        <p:spPr/>
        <p:txBody>
          <a:bodyPr/>
          <a:lstStyle/>
          <a:p>
            <a:r>
              <a:rPr lang="en-US" dirty="0"/>
              <a:t>Name: Lim Ming An</a:t>
            </a:r>
          </a:p>
          <a:p>
            <a:r>
              <a:rPr lang="en-US" dirty="0"/>
              <a:t>Admission no: 2102511I</a:t>
            </a:r>
          </a:p>
          <a:p>
            <a:r>
              <a:rPr lang="en-US" dirty="0"/>
              <a:t>Class: P01</a:t>
            </a:r>
            <a:endParaRPr lang="en-SG" dirty="0"/>
          </a:p>
        </p:txBody>
      </p:sp>
    </p:spTree>
    <p:extLst>
      <p:ext uri="{BB962C8B-B14F-4D97-AF65-F5344CB8AC3E}">
        <p14:creationId xmlns:p14="http://schemas.microsoft.com/office/powerpoint/2010/main" val="2689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F91C4-F6B2-510C-CD8C-0FB88CB3F409}"/>
              </a:ext>
            </a:extLst>
          </p:cNvPr>
          <p:cNvSpPr>
            <a:spLocks noGrp="1"/>
          </p:cNvSpPr>
          <p:nvPr>
            <p:ph type="title"/>
          </p:nvPr>
        </p:nvSpPr>
        <p:spPr/>
        <p:txBody>
          <a:bodyPr/>
          <a:lstStyle/>
          <a:p>
            <a:r>
              <a:rPr lang="en-US" dirty="0"/>
              <a:t>Introduction</a:t>
            </a:r>
            <a:endParaRPr lang="en-SG" dirty="0"/>
          </a:p>
        </p:txBody>
      </p:sp>
      <p:sp>
        <p:nvSpPr>
          <p:cNvPr id="3" name="Content Placeholder 2">
            <a:extLst>
              <a:ext uri="{FF2B5EF4-FFF2-40B4-BE49-F238E27FC236}">
                <a16:creationId xmlns:a16="http://schemas.microsoft.com/office/drawing/2014/main" id="{A0CB62FF-AF77-9A8C-0ADA-2EC6E5F3F829}"/>
              </a:ext>
            </a:extLst>
          </p:cNvPr>
          <p:cNvSpPr>
            <a:spLocks noGrp="1"/>
          </p:cNvSpPr>
          <p:nvPr>
            <p:ph idx="1"/>
          </p:nvPr>
        </p:nvSpPr>
        <p:spPr/>
        <p:txBody>
          <a:bodyPr/>
          <a:lstStyle/>
          <a:p>
            <a:r>
              <a:rPr lang="en-US" dirty="0"/>
              <a:t>CIFAR10 is popular and widely used image classification benchmark dataset for computer vision learning. </a:t>
            </a:r>
          </a:p>
          <a:p>
            <a:r>
              <a:rPr lang="en-US" dirty="0"/>
              <a:t>It consists of 60,000 color images of size 32x32. The images are divided into 10 classes which are airplanes, automobiles, birds, cats, deer, dogs, frogs, horses, ships, and trucks.</a:t>
            </a:r>
          </a:p>
          <a:p>
            <a:r>
              <a:rPr lang="en-US" dirty="0"/>
              <a:t>50,000 images are used for training and 10,000 images are used for testing.</a:t>
            </a:r>
            <a:endParaRPr lang="en-SG" dirty="0"/>
          </a:p>
        </p:txBody>
      </p:sp>
    </p:spTree>
    <p:extLst>
      <p:ext uri="{BB962C8B-B14F-4D97-AF65-F5344CB8AC3E}">
        <p14:creationId xmlns:p14="http://schemas.microsoft.com/office/powerpoint/2010/main" val="913613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4A9449-1A59-3687-D04D-10FF8FF23F74}"/>
              </a:ext>
            </a:extLst>
          </p:cNvPr>
          <p:cNvSpPr>
            <a:spLocks noGrp="1"/>
          </p:cNvSpPr>
          <p:nvPr>
            <p:ph idx="1"/>
          </p:nvPr>
        </p:nvSpPr>
        <p:spPr>
          <a:xfrm>
            <a:off x="0" y="359212"/>
            <a:ext cx="4104736" cy="2458915"/>
          </a:xfrm>
        </p:spPr>
        <p:txBody>
          <a:bodyPr>
            <a:normAutofit lnSpcReduction="10000"/>
          </a:bodyPr>
          <a:lstStyle/>
          <a:p>
            <a:pPr marL="0" indent="0">
              <a:buNone/>
            </a:pPr>
            <a:r>
              <a:rPr lang="en-US" sz="1600" dirty="0"/>
              <a:t>Data exploration:</a:t>
            </a:r>
          </a:p>
          <a:p>
            <a:r>
              <a:rPr lang="en-US" sz="1600" dirty="0"/>
              <a:t>The data are separated into X and Y for both training and testing datasets. The values are stored in sets of arrays</a:t>
            </a:r>
          </a:p>
          <a:p>
            <a:r>
              <a:rPr lang="en-US" sz="1600" dirty="0"/>
              <a:t>X contains RGB values that ranges from 0 to 255. There are 3 sets of arrays for each image since there are 3 color channels. </a:t>
            </a:r>
          </a:p>
          <a:p>
            <a:r>
              <a:rPr lang="en-US" sz="1600" dirty="0"/>
              <a:t>Y contains values that ranges from 0-9. Each number represents the class that the image belongs to</a:t>
            </a:r>
          </a:p>
        </p:txBody>
      </p:sp>
      <p:pic>
        <p:nvPicPr>
          <p:cNvPr id="5" name="Picture 4">
            <a:extLst>
              <a:ext uri="{FF2B5EF4-FFF2-40B4-BE49-F238E27FC236}">
                <a16:creationId xmlns:a16="http://schemas.microsoft.com/office/drawing/2014/main" id="{165623C6-A333-52F8-062B-E3609E46D2F7}"/>
              </a:ext>
            </a:extLst>
          </p:cNvPr>
          <p:cNvPicPr>
            <a:picLocks noChangeAspect="1"/>
          </p:cNvPicPr>
          <p:nvPr/>
        </p:nvPicPr>
        <p:blipFill>
          <a:blip r:embed="rId2"/>
          <a:stretch>
            <a:fillRect/>
          </a:stretch>
        </p:blipFill>
        <p:spPr>
          <a:xfrm>
            <a:off x="0" y="2868353"/>
            <a:ext cx="4925683" cy="2059822"/>
          </a:xfrm>
          <a:prstGeom prst="rect">
            <a:avLst/>
          </a:prstGeom>
        </p:spPr>
      </p:pic>
      <p:sp>
        <p:nvSpPr>
          <p:cNvPr id="7" name="Content Placeholder 2">
            <a:extLst>
              <a:ext uri="{FF2B5EF4-FFF2-40B4-BE49-F238E27FC236}">
                <a16:creationId xmlns:a16="http://schemas.microsoft.com/office/drawing/2014/main" id="{3DE06147-B30D-E17A-A66E-44EB824007AA}"/>
              </a:ext>
            </a:extLst>
          </p:cNvPr>
          <p:cNvSpPr txBox="1">
            <a:spLocks/>
          </p:cNvSpPr>
          <p:nvPr/>
        </p:nvSpPr>
        <p:spPr>
          <a:xfrm>
            <a:off x="0" y="5200264"/>
            <a:ext cx="4925683" cy="22356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We can also see the distribution of images. </a:t>
            </a:r>
          </a:p>
          <a:p>
            <a:r>
              <a:rPr lang="en-US" sz="1600" dirty="0"/>
              <a:t>Training set contains 5000 images for each class, which makes up the 50,000 images mentioned</a:t>
            </a:r>
          </a:p>
          <a:p>
            <a:r>
              <a:rPr lang="en-US" sz="1600" dirty="0"/>
              <a:t>Testing set contains 1000 images for each class, making up 10000 images in total</a:t>
            </a:r>
          </a:p>
        </p:txBody>
      </p:sp>
      <p:sp>
        <p:nvSpPr>
          <p:cNvPr id="17" name="Content Placeholder 2">
            <a:extLst>
              <a:ext uri="{FF2B5EF4-FFF2-40B4-BE49-F238E27FC236}">
                <a16:creationId xmlns:a16="http://schemas.microsoft.com/office/drawing/2014/main" id="{D242DCAE-8AEE-4FEF-29F8-1D7B8E0DF982}"/>
              </a:ext>
            </a:extLst>
          </p:cNvPr>
          <p:cNvSpPr txBox="1">
            <a:spLocks/>
          </p:cNvSpPr>
          <p:nvPr/>
        </p:nvSpPr>
        <p:spPr>
          <a:xfrm>
            <a:off x="5512278" y="337836"/>
            <a:ext cx="6679722" cy="65201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Preprocessing techniques:</a:t>
            </a:r>
          </a:p>
          <a:p>
            <a:r>
              <a:rPr lang="en-US" sz="1600" dirty="0"/>
              <a:t>Convert values to float</a:t>
            </a:r>
          </a:p>
          <a:p>
            <a:endParaRPr lang="en-US" sz="1600" dirty="0"/>
          </a:p>
          <a:p>
            <a:r>
              <a:rPr lang="en-US" sz="1600" dirty="0"/>
              <a:t>Pixel normalization - divide each instance in X dataset by 255 so that all the image pixels are between 0 and 1. Used in Lenet5 and AlexNet</a:t>
            </a:r>
          </a:p>
          <a:p>
            <a:endParaRPr lang="en-US" sz="1600" dirty="0"/>
          </a:p>
          <a:p>
            <a:r>
              <a:rPr lang="en-US" sz="1600" dirty="0"/>
              <a:t>Standardization – subtract mean and divides by standard deviation (STD). This ensures zero mean and STD of 1. Used in </a:t>
            </a:r>
            <a:r>
              <a:rPr lang="en-US" sz="1600" dirty="0" err="1"/>
              <a:t>ResNet</a:t>
            </a:r>
            <a:r>
              <a:rPr lang="en-US" sz="1600" dirty="0"/>
              <a:t> and GoogleNet</a:t>
            </a:r>
          </a:p>
          <a:p>
            <a:endParaRPr lang="en-US" sz="1600" dirty="0"/>
          </a:p>
          <a:p>
            <a:endParaRPr lang="en-US" sz="1600" dirty="0"/>
          </a:p>
          <a:p>
            <a:r>
              <a:rPr lang="en-US" sz="1600" dirty="0"/>
              <a:t>Label Binarizer – convert all classes to 0 except the correct  corresponded class which will be a 1. Used in all model</a:t>
            </a:r>
          </a:p>
          <a:p>
            <a:endParaRPr lang="en-US" sz="1600" dirty="0"/>
          </a:p>
          <a:p>
            <a:endParaRPr lang="en-US" sz="1600" dirty="0"/>
          </a:p>
          <a:p>
            <a:r>
              <a:rPr lang="en-US" sz="1600" dirty="0"/>
              <a:t>Data Augmentation - generates variations of images from the dataset to provide more training samples for the model to learn</a:t>
            </a:r>
          </a:p>
        </p:txBody>
      </p:sp>
      <p:pic>
        <p:nvPicPr>
          <p:cNvPr id="19" name="Picture 18">
            <a:extLst>
              <a:ext uri="{FF2B5EF4-FFF2-40B4-BE49-F238E27FC236}">
                <a16:creationId xmlns:a16="http://schemas.microsoft.com/office/drawing/2014/main" id="{5C9F9416-F66E-F137-0283-4366667A3EE0}"/>
              </a:ext>
            </a:extLst>
          </p:cNvPr>
          <p:cNvPicPr>
            <a:picLocks noChangeAspect="1"/>
          </p:cNvPicPr>
          <p:nvPr/>
        </p:nvPicPr>
        <p:blipFill>
          <a:blip r:embed="rId3"/>
          <a:stretch>
            <a:fillRect/>
          </a:stretch>
        </p:blipFill>
        <p:spPr>
          <a:xfrm>
            <a:off x="6096000" y="946676"/>
            <a:ext cx="2524477" cy="466790"/>
          </a:xfrm>
          <a:prstGeom prst="rect">
            <a:avLst/>
          </a:prstGeom>
        </p:spPr>
      </p:pic>
      <p:pic>
        <p:nvPicPr>
          <p:cNvPr id="21" name="Picture 20">
            <a:extLst>
              <a:ext uri="{FF2B5EF4-FFF2-40B4-BE49-F238E27FC236}">
                <a16:creationId xmlns:a16="http://schemas.microsoft.com/office/drawing/2014/main" id="{AEBC4279-503A-DAA3-2A43-5F9B653EA59F}"/>
              </a:ext>
            </a:extLst>
          </p:cNvPr>
          <p:cNvPicPr>
            <a:picLocks noChangeAspect="1"/>
          </p:cNvPicPr>
          <p:nvPr/>
        </p:nvPicPr>
        <p:blipFill>
          <a:blip r:embed="rId4"/>
          <a:stretch>
            <a:fillRect/>
          </a:stretch>
        </p:blipFill>
        <p:spPr>
          <a:xfrm>
            <a:off x="6096000" y="2778654"/>
            <a:ext cx="3277057" cy="819264"/>
          </a:xfrm>
          <a:prstGeom prst="rect">
            <a:avLst/>
          </a:prstGeom>
        </p:spPr>
      </p:pic>
      <p:pic>
        <p:nvPicPr>
          <p:cNvPr id="23" name="Picture 22">
            <a:extLst>
              <a:ext uri="{FF2B5EF4-FFF2-40B4-BE49-F238E27FC236}">
                <a16:creationId xmlns:a16="http://schemas.microsoft.com/office/drawing/2014/main" id="{6FC8F0AA-ED88-6552-E51D-6DF2AD155135}"/>
              </a:ext>
            </a:extLst>
          </p:cNvPr>
          <p:cNvPicPr>
            <a:picLocks noChangeAspect="1"/>
          </p:cNvPicPr>
          <p:nvPr/>
        </p:nvPicPr>
        <p:blipFill>
          <a:blip r:embed="rId5"/>
          <a:stretch>
            <a:fillRect/>
          </a:stretch>
        </p:blipFill>
        <p:spPr>
          <a:xfrm>
            <a:off x="6096000" y="4080459"/>
            <a:ext cx="2562583" cy="666843"/>
          </a:xfrm>
          <a:prstGeom prst="rect">
            <a:avLst/>
          </a:prstGeom>
        </p:spPr>
      </p:pic>
      <p:pic>
        <p:nvPicPr>
          <p:cNvPr id="29" name="Picture 28">
            <a:extLst>
              <a:ext uri="{FF2B5EF4-FFF2-40B4-BE49-F238E27FC236}">
                <a16:creationId xmlns:a16="http://schemas.microsoft.com/office/drawing/2014/main" id="{0E449A3A-4B6B-4851-22BF-7BF0BF97CFD9}"/>
              </a:ext>
            </a:extLst>
          </p:cNvPr>
          <p:cNvPicPr>
            <a:picLocks noChangeAspect="1"/>
          </p:cNvPicPr>
          <p:nvPr/>
        </p:nvPicPr>
        <p:blipFill>
          <a:blip r:embed="rId6"/>
          <a:stretch>
            <a:fillRect/>
          </a:stretch>
        </p:blipFill>
        <p:spPr>
          <a:xfrm>
            <a:off x="6096000" y="1896007"/>
            <a:ext cx="1781424" cy="400106"/>
          </a:xfrm>
          <a:prstGeom prst="rect">
            <a:avLst/>
          </a:prstGeom>
        </p:spPr>
      </p:pic>
      <p:pic>
        <p:nvPicPr>
          <p:cNvPr id="33" name="Picture 32">
            <a:extLst>
              <a:ext uri="{FF2B5EF4-FFF2-40B4-BE49-F238E27FC236}">
                <a16:creationId xmlns:a16="http://schemas.microsoft.com/office/drawing/2014/main" id="{90939780-54AE-A156-09F3-00C15D5295B7}"/>
              </a:ext>
            </a:extLst>
          </p:cNvPr>
          <p:cNvPicPr>
            <a:picLocks noChangeAspect="1"/>
          </p:cNvPicPr>
          <p:nvPr/>
        </p:nvPicPr>
        <p:blipFill>
          <a:blip r:embed="rId7"/>
          <a:stretch>
            <a:fillRect/>
          </a:stretch>
        </p:blipFill>
        <p:spPr>
          <a:xfrm>
            <a:off x="6096000" y="5430244"/>
            <a:ext cx="3724795" cy="962159"/>
          </a:xfrm>
          <a:prstGeom prst="rect">
            <a:avLst/>
          </a:prstGeom>
        </p:spPr>
      </p:pic>
      <p:cxnSp>
        <p:nvCxnSpPr>
          <p:cNvPr id="35" name="Straight Connector 34">
            <a:extLst>
              <a:ext uri="{FF2B5EF4-FFF2-40B4-BE49-F238E27FC236}">
                <a16:creationId xmlns:a16="http://schemas.microsoft.com/office/drawing/2014/main" id="{FB967FEF-A1E5-7495-070E-43EEDBC97CFE}"/>
              </a:ext>
            </a:extLst>
          </p:cNvPr>
          <p:cNvCxnSpPr/>
          <p:nvPr/>
        </p:nvCxnSpPr>
        <p:spPr>
          <a:xfrm>
            <a:off x="5149970" y="373804"/>
            <a:ext cx="0" cy="61249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8100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7C387179-1C6E-9DB7-E58D-DE72DD685A47}"/>
              </a:ext>
            </a:extLst>
          </p:cNvPr>
          <p:cNvSpPr txBox="1">
            <a:spLocks/>
          </p:cNvSpPr>
          <p:nvPr/>
        </p:nvSpPr>
        <p:spPr>
          <a:xfrm>
            <a:off x="129397" y="355620"/>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LeNet model building:</a:t>
            </a:r>
          </a:p>
          <a:p>
            <a:r>
              <a:rPr lang="en-US" sz="1600" dirty="0"/>
              <a:t>The architecture is made of 3 convolution layers with max pooling and 2 fully connected layers. </a:t>
            </a:r>
          </a:p>
          <a:p>
            <a:r>
              <a:rPr lang="en-US" sz="1600" dirty="0"/>
              <a:t>The model is compiled using accuracy as the metric. The optimizer used is Adam and the loss function used is categorical crossentropy. </a:t>
            </a:r>
          </a:p>
        </p:txBody>
      </p:sp>
      <p:sp>
        <p:nvSpPr>
          <p:cNvPr id="42" name="Content Placeholder 2">
            <a:extLst>
              <a:ext uri="{FF2B5EF4-FFF2-40B4-BE49-F238E27FC236}">
                <a16:creationId xmlns:a16="http://schemas.microsoft.com/office/drawing/2014/main" id="{1F40EB65-0874-A262-1158-9FEE1BD8A98B}"/>
              </a:ext>
            </a:extLst>
          </p:cNvPr>
          <p:cNvSpPr txBox="1">
            <a:spLocks/>
          </p:cNvSpPr>
          <p:nvPr/>
        </p:nvSpPr>
        <p:spPr>
          <a:xfrm>
            <a:off x="129397" y="2569734"/>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Base LeNet settings and results:</a:t>
            </a:r>
          </a:p>
          <a:p>
            <a:r>
              <a:rPr lang="en-US" sz="1600" dirty="0"/>
              <a:t>Base LeNet uses RELU as its activation function and a learning rate of 0.001.</a:t>
            </a:r>
          </a:p>
          <a:p>
            <a:r>
              <a:rPr lang="en-US" sz="1600" dirty="0"/>
              <a:t>The model is then fitted using batch size of 32 and ran for 20 epochs. </a:t>
            </a:r>
          </a:p>
          <a:p>
            <a:r>
              <a:rPr lang="en-US" sz="1600" dirty="0"/>
              <a:t>The model was able to get a test accuracy of 0.611 and test score (loss) of 2.91.</a:t>
            </a:r>
          </a:p>
          <a:p>
            <a:endParaRPr lang="en-US" sz="1600" dirty="0"/>
          </a:p>
        </p:txBody>
      </p:sp>
      <p:pic>
        <p:nvPicPr>
          <p:cNvPr id="44" name="Picture 43">
            <a:extLst>
              <a:ext uri="{FF2B5EF4-FFF2-40B4-BE49-F238E27FC236}">
                <a16:creationId xmlns:a16="http://schemas.microsoft.com/office/drawing/2014/main" id="{F501117F-77F0-B359-B982-4730D0F78C93}"/>
              </a:ext>
            </a:extLst>
          </p:cNvPr>
          <p:cNvPicPr>
            <a:picLocks noChangeAspect="1"/>
          </p:cNvPicPr>
          <p:nvPr/>
        </p:nvPicPr>
        <p:blipFill>
          <a:blip r:embed="rId2"/>
          <a:stretch>
            <a:fillRect/>
          </a:stretch>
        </p:blipFill>
        <p:spPr>
          <a:xfrm>
            <a:off x="129397" y="4625129"/>
            <a:ext cx="2781688" cy="390580"/>
          </a:xfrm>
          <a:prstGeom prst="rect">
            <a:avLst/>
          </a:prstGeom>
        </p:spPr>
      </p:pic>
      <p:pic>
        <p:nvPicPr>
          <p:cNvPr id="46" name="Picture 45">
            <a:extLst>
              <a:ext uri="{FF2B5EF4-FFF2-40B4-BE49-F238E27FC236}">
                <a16:creationId xmlns:a16="http://schemas.microsoft.com/office/drawing/2014/main" id="{89B1FDC7-C555-6F8C-A6FE-DBCDC0F8AFE4}"/>
              </a:ext>
            </a:extLst>
          </p:cNvPr>
          <p:cNvPicPr>
            <a:picLocks noChangeAspect="1"/>
          </p:cNvPicPr>
          <p:nvPr/>
        </p:nvPicPr>
        <p:blipFill>
          <a:blip r:embed="rId3"/>
          <a:stretch>
            <a:fillRect/>
          </a:stretch>
        </p:blipFill>
        <p:spPr>
          <a:xfrm>
            <a:off x="129398" y="5028725"/>
            <a:ext cx="3260784" cy="816697"/>
          </a:xfrm>
          <a:prstGeom prst="rect">
            <a:avLst/>
          </a:prstGeom>
        </p:spPr>
      </p:pic>
      <p:pic>
        <p:nvPicPr>
          <p:cNvPr id="48" name="Picture 47">
            <a:extLst>
              <a:ext uri="{FF2B5EF4-FFF2-40B4-BE49-F238E27FC236}">
                <a16:creationId xmlns:a16="http://schemas.microsoft.com/office/drawing/2014/main" id="{8369F8D6-9EB3-9AE9-C6AA-BC26E27C1330}"/>
              </a:ext>
            </a:extLst>
          </p:cNvPr>
          <p:cNvPicPr>
            <a:picLocks noChangeAspect="1"/>
          </p:cNvPicPr>
          <p:nvPr/>
        </p:nvPicPr>
        <p:blipFill>
          <a:blip r:embed="rId4"/>
          <a:stretch>
            <a:fillRect/>
          </a:stretch>
        </p:blipFill>
        <p:spPr>
          <a:xfrm>
            <a:off x="137449" y="5850520"/>
            <a:ext cx="2208936" cy="1000157"/>
          </a:xfrm>
          <a:prstGeom prst="rect">
            <a:avLst/>
          </a:prstGeom>
        </p:spPr>
      </p:pic>
      <p:sp>
        <p:nvSpPr>
          <p:cNvPr id="49" name="Content Placeholder 2">
            <a:extLst>
              <a:ext uri="{FF2B5EF4-FFF2-40B4-BE49-F238E27FC236}">
                <a16:creationId xmlns:a16="http://schemas.microsoft.com/office/drawing/2014/main" id="{E97A4F19-6C20-3955-1B12-8EF55E18B3D0}"/>
              </a:ext>
            </a:extLst>
          </p:cNvPr>
          <p:cNvSpPr txBox="1">
            <a:spLocks/>
          </p:cNvSpPr>
          <p:nvPr/>
        </p:nvSpPr>
        <p:spPr>
          <a:xfrm>
            <a:off x="4983192" y="355620"/>
            <a:ext cx="7208807" cy="637298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LeNet fine tuning using Bayesian Optimization:</a:t>
            </a:r>
          </a:p>
          <a:p>
            <a:r>
              <a:rPr lang="en-US" sz="1600" dirty="0"/>
              <a:t>Parameters that were chosen for fine tuning were type of activation function (RELU, Sigmoid and tanH), learning rate(0.001 to 0.003) and batch size (32 to 128)</a:t>
            </a:r>
          </a:p>
          <a:p>
            <a:r>
              <a:rPr lang="en-US" sz="1600" dirty="0"/>
              <a:t>The optimizer was run for 9 iterations, meaning 9 models were built, all with different parameters.</a:t>
            </a:r>
          </a:p>
          <a:p>
            <a:r>
              <a:rPr lang="en-US" sz="1600" dirty="0"/>
              <a:t>The best parameters are:</a:t>
            </a:r>
          </a:p>
          <a:p>
            <a:endParaRPr lang="en-US" sz="1600" dirty="0"/>
          </a:p>
          <a:p>
            <a:r>
              <a:rPr lang="en-US" sz="1600" dirty="0"/>
              <a:t>Results found are all rounded up to their nearest value. Hence the final parameters are:</a:t>
            </a:r>
          </a:p>
          <a:p>
            <a:endParaRPr lang="en-US" sz="1600" dirty="0"/>
          </a:p>
          <a:p>
            <a:endParaRPr lang="en-US" sz="1600" dirty="0"/>
          </a:p>
          <a:p>
            <a:r>
              <a:rPr lang="en-US" sz="1600" dirty="0"/>
              <a:t>Model was then rebuilt using these parameters. The number of epochs increases to 50 to allow model a longer time to run. These are the final results:</a:t>
            </a:r>
          </a:p>
          <a:p>
            <a:endParaRPr lang="en-US" sz="1600" dirty="0"/>
          </a:p>
          <a:p>
            <a:endParaRPr lang="en-US" sz="1600" dirty="0"/>
          </a:p>
          <a:p>
            <a:endParaRPr lang="en-US" sz="1600" dirty="0"/>
          </a:p>
          <a:p>
            <a:endParaRPr lang="en-US" sz="1600" dirty="0"/>
          </a:p>
          <a:p>
            <a:endParaRPr lang="en-US" sz="1600" dirty="0"/>
          </a:p>
          <a:p>
            <a:r>
              <a:rPr lang="en-US" sz="1600" dirty="0"/>
              <a:t>We can see that there is a minor improvement to the model’s test accuracy from 0.611 to 0.635. </a:t>
            </a:r>
          </a:p>
          <a:p>
            <a:r>
              <a:rPr lang="en-US" sz="1600" dirty="0"/>
              <a:t>We can also see that the test score was able to decrease significantly from 2.91 to 1.65. Overall, our fine-tuned model was able to perform much better.</a:t>
            </a:r>
          </a:p>
          <a:p>
            <a:endParaRPr lang="en-US" sz="1600" dirty="0"/>
          </a:p>
          <a:p>
            <a:endParaRPr lang="en-US" sz="1600" dirty="0"/>
          </a:p>
        </p:txBody>
      </p:sp>
      <p:pic>
        <p:nvPicPr>
          <p:cNvPr id="51" name="Picture 50">
            <a:extLst>
              <a:ext uri="{FF2B5EF4-FFF2-40B4-BE49-F238E27FC236}">
                <a16:creationId xmlns:a16="http://schemas.microsoft.com/office/drawing/2014/main" id="{8CFB2771-5223-4A03-B4F4-3658A5EE0C4B}"/>
              </a:ext>
            </a:extLst>
          </p:cNvPr>
          <p:cNvPicPr>
            <a:picLocks noChangeAspect="1"/>
          </p:cNvPicPr>
          <p:nvPr/>
        </p:nvPicPr>
        <p:blipFill>
          <a:blip r:embed="rId5"/>
          <a:stretch>
            <a:fillRect/>
          </a:stretch>
        </p:blipFill>
        <p:spPr>
          <a:xfrm>
            <a:off x="5266242" y="1939997"/>
            <a:ext cx="6642705" cy="440671"/>
          </a:xfrm>
          <a:prstGeom prst="rect">
            <a:avLst/>
          </a:prstGeom>
        </p:spPr>
      </p:pic>
      <p:pic>
        <p:nvPicPr>
          <p:cNvPr id="56" name="Picture 55">
            <a:extLst>
              <a:ext uri="{FF2B5EF4-FFF2-40B4-BE49-F238E27FC236}">
                <a16:creationId xmlns:a16="http://schemas.microsoft.com/office/drawing/2014/main" id="{AC2E9945-B6A4-A8DF-BAC1-76CB8A7F743A}"/>
              </a:ext>
            </a:extLst>
          </p:cNvPr>
          <p:cNvPicPr>
            <a:picLocks noChangeAspect="1"/>
          </p:cNvPicPr>
          <p:nvPr/>
        </p:nvPicPr>
        <p:blipFill>
          <a:blip r:embed="rId6"/>
          <a:stretch>
            <a:fillRect/>
          </a:stretch>
        </p:blipFill>
        <p:spPr>
          <a:xfrm>
            <a:off x="5266242" y="2838368"/>
            <a:ext cx="1724266" cy="590632"/>
          </a:xfrm>
          <a:prstGeom prst="rect">
            <a:avLst/>
          </a:prstGeom>
        </p:spPr>
      </p:pic>
      <p:cxnSp>
        <p:nvCxnSpPr>
          <p:cNvPr id="57" name="Straight Connector 56">
            <a:extLst>
              <a:ext uri="{FF2B5EF4-FFF2-40B4-BE49-F238E27FC236}">
                <a16:creationId xmlns:a16="http://schemas.microsoft.com/office/drawing/2014/main" id="{F6226EAC-3B96-CB71-6AFF-CDA90712A37F}"/>
              </a:ext>
            </a:extLst>
          </p:cNvPr>
          <p:cNvCxnSpPr/>
          <p:nvPr/>
        </p:nvCxnSpPr>
        <p:spPr>
          <a:xfrm>
            <a:off x="4658264" y="312430"/>
            <a:ext cx="0" cy="61249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59" name="Picture 58">
            <a:extLst>
              <a:ext uri="{FF2B5EF4-FFF2-40B4-BE49-F238E27FC236}">
                <a16:creationId xmlns:a16="http://schemas.microsoft.com/office/drawing/2014/main" id="{DBEF82B6-A2CF-76A7-EFBF-404327AEBA04}"/>
              </a:ext>
            </a:extLst>
          </p:cNvPr>
          <p:cNvPicPr>
            <a:picLocks noChangeAspect="1"/>
          </p:cNvPicPr>
          <p:nvPr/>
        </p:nvPicPr>
        <p:blipFill>
          <a:blip r:embed="rId7"/>
          <a:stretch>
            <a:fillRect/>
          </a:stretch>
        </p:blipFill>
        <p:spPr>
          <a:xfrm>
            <a:off x="5278225" y="3965045"/>
            <a:ext cx="3184288" cy="773404"/>
          </a:xfrm>
          <a:prstGeom prst="rect">
            <a:avLst/>
          </a:prstGeom>
        </p:spPr>
      </p:pic>
      <p:pic>
        <p:nvPicPr>
          <p:cNvPr id="61" name="Picture 60">
            <a:extLst>
              <a:ext uri="{FF2B5EF4-FFF2-40B4-BE49-F238E27FC236}">
                <a16:creationId xmlns:a16="http://schemas.microsoft.com/office/drawing/2014/main" id="{9AF12A0A-8C61-0631-C913-6218B5AE730D}"/>
              </a:ext>
            </a:extLst>
          </p:cNvPr>
          <p:cNvPicPr>
            <a:picLocks noChangeAspect="1"/>
          </p:cNvPicPr>
          <p:nvPr/>
        </p:nvPicPr>
        <p:blipFill>
          <a:blip r:embed="rId8"/>
          <a:stretch>
            <a:fillRect/>
          </a:stretch>
        </p:blipFill>
        <p:spPr>
          <a:xfrm>
            <a:off x="5278225" y="4738449"/>
            <a:ext cx="3968630" cy="802708"/>
          </a:xfrm>
          <a:prstGeom prst="rect">
            <a:avLst/>
          </a:prstGeom>
        </p:spPr>
      </p:pic>
      <p:pic>
        <p:nvPicPr>
          <p:cNvPr id="63" name="Picture 62">
            <a:extLst>
              <a:ext uri="{FF2B5EF4-FFF2-40B4-BE49-F238E27FC236}">
                <a16:creationId xmlns:a16="http://schemas.microsoft.com/office/drawing/2014/main" id="{49A4C417-87A6-37DF-F6DA-638369042675}"/>
              </a:ext>
            </a:extLst>
          </p:cNvPr>
          <p:cNvPicPr>
            <a:picLocks noChangeAspect="1"/>
          </p:cNvPicPr>
          <p:nvPr/>
        </p:nvPicPr>
        <p:blipFill>
          <a:blip r:embed="rId9"/>
          <a:stretch>
            <a:fillRect/>
          </a:stretch>
        </p:blipFill>
        <p:spPr>
          <a:xfrm>
            <a:off x="7149812" y="1482297"/>
            <a:ext cx="3258005" cy="238158"/>
          </a:xfrm>
          <a:prstGeom prst="rect">
            <a:avLst/>
          </a:prstGeom>
        </p:spPr>
      </p:pic>
    </p:spTree>
    <p:extLst>
      <p:ext uri="{BB962C8B-B14F-4D97-AF65-F5344CB8AC3E}">
        <p14:creationId xmlns:p14="http://schemas.microsoft.com/office/powerpoint/2010/main" val="206605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A09DD-227A-EB27-E84F-746157446E02}"/>
              </a:ext>
            </a:extLst>
          </p:cNvPr>
          <p:cNvPicPr>
            <a:picLocks noChangeAspect="1"/>
          </p:cNvPicPr>
          <p:nvPr/>
        </p:nvPicPr>
        <p:blipFill>
          <a:blip r:embed="rId2"/>
          <a:stretch>
            <a:fillRect/>
          </a:stretch>
        </p:blipFill>
        <p:spPr>
          <a:xfrm>
            <a:off x="1415304" y="643467"/>
            <a:ext cx="4152190" cy="2543217"/>
          </a:xfrm>
          <a:prstGeom prst="rect">
            <a:avLst/>
          </a:prstGeom>
        </p:spPr>
      </p:pic>
      <p:cxnSp>
        <p:nvCxnSpPr>
          <p:cNvPr id="18" name="Straight Connector 17">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0EBFBB51-F759-BF32-8A73-2E585099D614}"/>
              </a:ext>
            </a:extLst>
          </p:cNvPr>
          <p:cNvPicPr>
            <a:picLocks noChangeAspect="1"/>
          </p:cNvPicPr>
          <p:nvPr/>
        </p:nvPicPr>
        <p:blipFill>
          <a:blip r:embed="rId3"/>
          <a:stretch>
            <a:fillRect/>
          </a:stretch>
        </p:blipFill>
        <p:spPr>
          <a:xfrm>
            <a:off x="6502866" y="643467"/>
            <a:ext cx="4403839" cy="2543217"/>
          </a:xfrm>
          <a:prstGeom prst="rect">
            <a:avLst/>
          </a:prstGeom>
        </p:spPr>
      </p:pic>
      <p:cxnSp>
        <p:nvCxnSpPr>
          <p:cNvPr id="20" name="Straight Connector 19">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8E45459E-9966-E6E9-4BAE-899703113126}"/>
              </a:ext>
            </a:extLst>
          </p:cNvPr>
          <p:cNvPicPr>
            <a:picLocks noChangeAspect="1"/>
          </p:cNvPicPr>
          <p:nvPr/>
        </p:nvPicPr>
        <p:blipFill>
          <a:blip r:embed="rId4"/>
          <a:stretch>
            <a:fillRect/>
          </a:stretch>
        </p:blipFill>
        <p:spPr>
          <a:xfrm>
            <a:off x="1859437" y="3671316"/>
            <a:ext cx="3263925" cy="2545862"/>
          </a:xfrm>
          <a:prstGeom prst="rect">
            <a:avLst/>
          </a:prstGeom>
        </p:spPr>
      </p:pic>
      <p:pic>
        <p:nvPicPr>
          <p:cNvPr id="7" name="Picture 6">
            <a:extLst>
              <a:ext uri="{FF2B5EF4-FFF2-40B4-BE49-F238E27FC236}">
                <a16:creationId xmlns:a16="http://schemas.microsoft.com/office/drawing/2014/main" id="{1770482C-E7E8-18D0-43AA-3503EA44A6B3}"/>
              </a:ext>
            </a:extLst>
          </p:cNvPr>
          <p:cNvPicPr>
            <a:picLocks noChangeAspect="1"/>
          </p:cNvPicPr>
          <p:nvPr/>
        </p:nvPicPr>
        <p:blipFill>
          <a:blip r:embed="rId5"/>
          <a:stretch>
            <a:fillRect/>
          </a:stretch>
        </p:blipFill>
        <p:spPr>
          <a:xfrm>
            <a:off x="7320792" y="3671316"/>
            <a:ext cx="2767987" cy="2553469"/>
          </a:xfrm>
          <a:prstGeom prst="rect">
            <a:avLst/>
          </a:prstGeom>
        </p:spPr>
      </p:pic>
    </p:spTree>
    <p:extLst>
      <p:ext uri="{BB962C8B-B14F-4D97-AF65-F5344CB8AC3E}">
        <p14:creationId xmlns:p14="http://schemas.microsoft.com/office/powerpoint/2010/main" val="1048423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7C387179-1C6E-9DB7-E58D-DE72DD685A47}"/>
              </a:ext>
            </a:extLst>
          </p:cNvPr>
          <p:cNvSpPr txBox="1">
            <a:spLocks/>
          </p:cNvSpPr>
          <p:nvPr/>
        </p:nvSpPr>
        <p:spPr>
          <a:xfrm>
            <a:off x="129397" y="355620"/>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AlexNet model building:</a:t>
            </a:r>
          </a:p>
          <a:p>
            <a:r>
              <a:rPr lang="en-US" sz="1400" dirty="0"/>
              <a:t>The architecture is made of </a:t>
            </a:r>
            <a:r>
              <a:rPr lang="en-US" sz="1400" dirty="0">
                <a:solidFill>
                  <a:srgbClr val="FF00FF"/>
                </a:solidFill>
              </a:rPr>
              <a:t>5</a:t>
            </a:r>
            <a:r>
              <a:rPr lang="en-US" sz="1400" dirty="0"/>
              <a:t> convolution layers with max pooling </a:t>
            </a:r>
            <a:r>
              <a:rPr lang="en-US" sz="1400" dirty="0">
                <a:solidFill>
                  <a:srgbClr val="FF00FF"/>
                </a:solidFill>
              </a:rPr>
              <a:t>and dropout </a:t>
            </a:r>
            <a:r>
              <a:rPr lang="en-US" sz="1400" dirty="0"/>
              <a:t>and </a:t>
            </a:r>
            <a:r>
              <a:rPr lang="en-US" sz="1400" dirty="0">
                <a:solidFill>
                  <a:srgbClr val="FF00FF"/>
                </a:solidFill>
              </a:rPr>
              <a:t>3</a:t>
            </a:r>
            <a:r>
              <a:rPr lang="en-US" sz="1400" dirty="0"/>
              <a:t> fully connected layers. </a:t>
            </a:r>
          </a:p>
          <a:p>
            <a:r>
              <a:rPr lang="en-US" sz="1400" dirty="0"/>
              <a:t>The model included </a:t>
            </a:r>
            <a:r>
              <a:rPr lang="en-US" sz="1400" dirty="0">
                <a:solidFill>
                  <a:srgbClr val="FF00FF"/>
                </a:solidFill>
              </a:rPr>
              <a:t>L2 regularizer </a:t>
            </a:r>
            <a:r>
              <a:rPr lang="en-US" sz="1400" dirty="0"/>
              <a:t>used to prevent overfitting</a:t>
            </a:r>
          </a:p>
          <a:p>
            <a:r>
              <a:rPr lang="en-US" sz="1400" dirty="0"/>
              <a:t>The model is compiled using accuracy as the metric. The optimizer used is Adam and the loss function used is categorical crossentropy, same as LeNet</a:t>
            </a:r>
          </a:p>
        </p:txBody>
      </p:sp>
      <p:sp>
        <p:nvSpPr>
          <p:cNvPr id="42" name="Content Placeholder 2">
            <a:extLst>
              <a:ext uri="{FF2B5EF4-FFF2-40B4-BE49-F238E27FC236}">
                <a16:creationId xmlns:a16="http://schemas.microsoft.com/office/drawing/2014/main" id="{1F40EB65-0874-A262-1158-9FEE1BD8A98B}"/>
              </a:ext>
            </a:extLst>
          </p:cNvPr>
          <p:cNvSpPr txBox="1">
            <a:spLocks/>
          </p:cNvSpPr>
          <p:nvPr/>
        </p:nvSpPr>
        <p:spPr>
          <a:xfrm>
            <a:off x="129397" y="2569734"/>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Base AlexNet settings and results:</a:t>
            </a:r>
          </a:p>
          <a:p>
            <a:r>
              <a:rPr lang="en-US" sz="1200" dirty="0"/>
              <a:t>Base AlexNet uses a dropout of 0.3 and a learning rate of 0.003 </a:t>
            </a:r>
          </a:p>
          <a:p>
            <a:r>
              <a:rPr lang="en-US" sz="1200" dirty="0"/>
              <a:t>The model is then fitted using batch size of 32 and ran for </a:t>
            </a:r>
            <a:r>
              <a:rPr lang="en-US" sz="1200" dirty="0">
                <a:solidFill>
                  <a:srgbClr val="FF00FF"/>
                </a:solidFill>
              </a:rPr>
              <a:t>10 </a:t>
            </a:r>
            <a:r>
              <a:rPr lang="en-US" sz="1200" dirty="0"/>
              <a:t>epochs.  </a:t>
            </a:r>
          </a:p>
          <a:p>
            <a:r>
              <a:rPr lang="en-US" sz="1200" dirty="0"/>
              <a:t>The number of epochs is lesser than LeNet because AlexNet has a much more complex architecture and takes a longer running time. This would also help save time during fine tuning process</a:t>
            </a:r>
          </a:p>
          <a:p>
            <a:r>
              <a:rPr lang="en-US" sz="1200" dirty="0"/>
              <a:t>The model was able to get a test accuracy of 0.789 and test score (loss) of 0.739</a:t>
            </a:r>
          </a:p>
          <a:p>
            <a:endParaRPr lang="en-US" sz="1200" dirty="0"/>
          </a:p>
        </p:txBody>
      </p:sp>
      <p:sp>
        <p:nvSpPr>
          <p:cNvPr id="49" name="Content Placeholder 2">
            <a:extLst>
              <a:ext uri="{FF2B5EF4-FFF2-40B4-BE49-F238E27FC236}">
                <a16:creationId xmlns:a16="http://schemas.microsoft.com/office/drawing/2014/main" id="{E97A4F19-6C20-3955-1B12-8EF55E18B3D0}"/>
              </a:ext>
            </a:extLst>
          </p:cNvPr>
          <p:cNvSpPr txBox="1">
            <a:spLocks/>
          </p:cNvSpPr>
          <p:nvPr/>
        </p:nvSpPr>
        <p:spPr>
          <a:xfrm>
            <a:off x="4983192" y="355620"/>
            <a:ext cx="7208807" cy="63729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AlexNet fine tuning using Bayesian Optimization:</a:t>
            </a:r>
          </a:p>
          <a:p>
            <a:r>
              <a:rPr lang="en-US" sz="1600" dirty="0"/>
              <a:t>Parameters that were chosen for fine tuning were </a:t>
            </a:r>
            <a:r>
              <a:rPr lang="en-US" sz="1600" dirty="0">
                <a:solidFill>
                  <a:srgbClr val="FF00FF"/>
                </a:solidFill>
              </a:rPr>
              <a:t>dropout(0.1 to 0.5)</a:t>
            </a:r>
            <a:r>
              <a:rPr lang="en-US" sz="1600" dirty="0"/>
              <a:t>, learning rate(0.003 to 0.005) and batch size (32 to 64)</a:t>
            </a:r>
          </a:p>
          <a:p>
            <a:r>
              <a:rPr lang="en-US" sz="1600" dirty="0"/>
              <a:t>The optimizer was run for 9 iterations.</a:t>
            </a:r>
          </a:p>
          <a:p>
            <a:r>
              <a:rPr lang="en-US" sz="1600" dirty="0"/>
              <a:t>The best and final parameters are:</a:t>
            </a:r>
          </a:p>
          <a:p>
            <a:endParaRPr lang="en-US" sz="1600" dirty="0"/>
          </a:p>
          <a:p>
            <a:endParaRPr lang="en-US" sz="1600" dirty="0"/>
          </a:p>
          <a:p>
            <a:endParaRPr lang="en-US" sz="1600" dirty="0"/>
          </a:p>
          <a:p>
            <a:r>
              <a:rPr lang="en-US" sz="1600" dirty="0">
                <a:solidFill>
                  <a:srgbClr val="FF00FF"/>
                </a:solidFill>
              </a:rPr>
              <a:t>Additionally</a:t>
            </a:r>
            <a:r>
              <a:rPr lang="en-US" sz="1600" dirty="0"/>
              <a:t>, data augmentation was done here as optimization. Model should be able to perform better with more training samples. The number of epochs increases to 75. These are the final results:</a:t>
            </a:r>
          </a:p>
          <a:p>
            <a:endParaRPr lang="en-US" sz="1600" dirty="0"/>
          </a:p>
          <a:p>
            <a:endParaRPr lang="en-US" sz="1600" dirty="0"/>
          </a:p>
          <a:p>
            <a:endParaRPr lang="en-US" sz="1600" dirty="0"/>
          </a:p>
          <a:p>
            <a:endParaRPr lang="en-US" sz="1600" dirty="0"/>
          </a:p>
          <a:p>
            <a:endParaRPr lang="en-US" sz="1600" dirty="0"/>
          </a:p>
          <a:p>
            <a:r>
              <a:rPr lang="en-US" sz="1600" dirty="0"/>
              <a:t>We can see that there is a significant improvement to the model’s test accuracy from 0.789 to 0.870. The model was able to classify almost 10% more accurately.</a:t>
            </a:r>
          </a:p>
          <a:p>
            <a:r>
              <a:rPr lang="en-US" sz="1600" dirty="0"/>
              <a:t>We can also see that the test score was able to decrease from 0.739 to 0.598. Overall, our model improved</a:t>
            </a:r>
          </a:p>
          <a:p>
            <a:endParaRPr lang="en-US" sz="1600" dirty="0"/>
          </a:p>
        </p:txBody>
      </p:sp>
      <p:cxnSp>
        <p:nvCxnSpPr>
          <p:cNvPr id="57" name="Straight Connector 56">
            <a:extLst>
              <a:ext uri="{FF2B5EF4-FFF2-40B4-BE49-F238E27FC236}">
                <a16:creationId xmlns:a16="http://schemas.microsoft.com/office/drawing/2014/main" id="{F6226EAC-3B96-CB71-6AFF-CDA90712A37F}"/>
              </a:ext>
            </a:extLst>
          </p:cNvPr>
          <p:cNvCxnSpPr/>
          <p:nvPr/>
        </p:nvCxnSpPr>
        <p:spPr>
          <a:xfrm>
            <a:off x="4658264" y="312430"/>
            <a:ext cx="0" cy="61249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DC6835F6-5F0F-5DC6-B8C9-67365CF42061}"/>
              </a:ext>
            </a:extLst>
          </p:cNvPr>
          <p:cNvPicPr>
            <a:picLocks noChangeAspect="1"/>
          </p:cNvPicPr>
          <p:nvPr/>
        </p:nvPicPr>
        <p:blipFill>
          <a:blip r:embed="rId2"/>
          <a:stretch>
            <a:fillRect/>
          </a:stretch>
        </p:blipFill>
        <p:spPr>
          <a:xfrm>
            <a:off x="269711" y="5028649"/>
            <a:ext cx="2508044" cy="216211"/>
          </a:xfrm>
          <a:prstGeom prst="rect">
            <a:avLst/>
          </a:prstGeom>
        </p:spPr>
      </p:pic>
      <p:pic>
        <p:nvPicPr>
          <p:cNvPr id="5" name="Picture 4">
            <a:extLst>
              <a:ext uri="{FF2B5EF4-FFF2-40B4-BE49-F238E27FC236}">
                <a16:creationId xmlns:a16="http://schemas.microsoft.com/office/drawing/2014/main" id="{76EDCC9B-0B41-6853-C591-20F839DAD2FD}"/>
              </a:ext>
            </a:extLst>
          </p:cNvPr>
          <p:cNvPicPr>
            <a:picLocks noChangeAspect="1"/>
          </p:cNvPicPr>
          <p:nvPr/>
        </p:nvPicPr>
        <p:blipFill>
          <a:blip r:embed="rId3"/>
          <a:stretch>
            <a:fillRect/>
          </a:stretch>
        </p:blipFill>
        <p:spPr>
          <a:xfrm>
            <a:off x="269711" y="5308086"/>
            <a:ext cx="2576733" cy="666589"/>
          </a:xfrm>
          <a:prstGeom prst="rect">
            <a:avLst/>
          </a:prstGeom>
        </p:spPr>
      </p:pic>
      <p:pic>
        <p:nvPicPr>
          <p:cNvPr id="7" name="Picture 6">
            <a:extLst>
              <a:ext uri="{FF2B5EF4-FFF2-40B4-BE49-F238E27FC236}">
                <a16:creationId xmlns:a16="http://schemas.microsoft.com/office/drawing/2014/main" id="{C6A732B7-7172-7DDE-2326-2C82CDC0C811}"/>
              </a:ext>
            </a:extLst>
          </p:cNvPr>
          <p:cNvPicPr>
            <a:picLocks noChangeAspect="1"/>
          </p:cNvPicPr>
          <p:nvPr/>
        </p:nvPicPr>
        <p:blipFill>
          <a:blip r:embed="rId4"/>
          <a:stretch>
            <a:fillRect/>
          </a:stretch>
        </p:blipFill>
        <p:spPr>
          <a:xfrm>
            <a:off x="269711" y="6037901"/>
            <a:ext cx="3067478" cy="571580"/>
          </a:xfrm>
          <a:prstGeom prst="rect">
            <a:avLst/>
          </a:prstGeom>
        </p:spPr>
      </p:pic>
      <p:pic>
        <p:nvPicPr>
          <p:cNvPr id="11" name="Picture 10">
            <a:extLst>
              <a:ext uri="{FF2B5EF4-FFF2-40B4-BE49-F238E27FC236}">
                <a16:creationId xmlns:a16="http://schemas.microsoft.com/office/drawing/2014/main" id="{1C3DBDC9-94B6-54B4-6BA9-7D481484950B}"/>
              </a:ext>
            </a:extLst>
          </p:cNvPr>
          <p:cNvPicPr>
            <a:picLocks noChangeAspect="1"/>
          </p:cNvPicPr>
          <p:nvPr/>
        </p:nvPicPr>
        <p:blipFill>
          <a:blip r:embed="rId5"/>
          <a:stretch>
            <a:fillRect/>
          </a:stretch>
        </p:blipFill>
        <p:spPr>
          <a:xfrm>
            <a:off x="5299310" y="1941612"/>
            <a:ext cx="6576570" cy="343378"/>
          </a:xfrm>
          <a:prstGeom prst="rect">
            <a:avLst/>
          </a:prstGeom>
        </p:spPr>
      </p:pic>
      <p:pic>
        <p:nvPicPr>
          <p:cNvPr id="15" name="Picture 14">
            <a:extLst>
              <a:ext uri="{FF2B5EF4-FFF2-40B4-BE49-F238E27FC236}">
                <a16:creationId xmlns:a16="http://schemas.microsoft.com/office/drawing/2014/main" id="{25FC4A08-9417-7D86-B574-B9C9C0406A44}"/>
              </a:ext>
            </a:extLst>
          </p:cNvPr>
          <p:cNvPicPr>
            <a:picLocks noChangeAspect="1"/>
          </p:cNvPicPr>
          <p:nvPr/>
        </p:nvPicPr>
        <p:blipFill>
          <a:blip r:embed="rId6"/>
          <a:stretch>
            <a:fillRect/>
          </a:stretch>
        </p:blipFill>
        <p:spPr>
          <a:xfrm>
            <a:off x="5299310" y="3742470"/>
            <a:ext cx="4348275" cy="869655"/>
          </a:xfrm>
          <a:prstGeom prst="rect">
            <a:avLst/>
          </a:prstGeom>
        </p:spPr>
      </p:pic>
      <p:pic>
        <p:nvPicPr>
          <p:cNvPr id="17" name="Picture 16">
            <a:extLst>
              <a:ext uri="{FF2B5EF4-FFF2-40B4-BE49-F238E27FC236}">
                <a16:creationId xmlns:a16="http://schemas.microsoft.com/office/drawing/2014/main" id="{FCDF4D88-0B07-C25C-D71B-6F2668B6269A}"/>
              </a:ext>
            </a:extLst>
          </p:cNvPr>
          <p:cNvPicPr>
            <a:picLocks noChangeAspect="1"/>
          </p:cNvPicPr>
          <p:nvPr/>
        </p:nvPicPr>
        <p:blipFill>
          <a:blip r:embed="rId7"/>
          <a:stretch>
            <a:fillRect/>
          </a:stretch>
        </p:blipFill>
        <p:spPr>
          <a:xfrm>
            <a:off x="5301981" y="4651922"/>
            <a:ext cx="4048081" cy="790010"/>
          </a:xfrm>
          <a:prstGeom prst="rect">
            <a:avLst/>
          </a:prstGeom>
        </p:spPr>
      </p:pic>
      <p:pic>
        <p:nvPicPr>
          <p:cNvPr id="19" name="Picture 18">
            <a:extLst>
              <a:ext uri="{FF2B5EF4-FFF2-40B4-BE49-F238E27FC236}">
                <a16:creationId xmlns:a16="http://schemas.microsoft.com/office/drawing/2014/main" id="{29E74800-32D7-193E-3374-E024E0B02205}"/>
              </a:ext>
            </a:extLst>
          </p:cNvPr>
          <p:cNvPicPr>
            <a:picLocks noChangeAspect="1"/>
          </p:cNvPicPr>
          <p:nvPr/>
        </p:nvPicPr>
        <p:blipFill>
          <a:blip r:embed="rId8"/>
          <a:stretch>
            <a:fillRect/>
          </a:stretch>
        </p:blipFill>
        <p:spPr>
          <a:xfrm>
            <a:off x="5299310" y="2319281"/>
            <a:ext cx="1867161" cy="600159"/>
          </a:xfrm>
          <a:prstGeom prst="rect">
            <a:avLst/>
          </a:prstGeom>
        </p:spPr>
      </p:pic>
    </p:spTree>
    <p:extLst>
      <p:ext uri="{BB962C8B-B14F-4D97-AF65-F5344CB8AC3E}">
        <p14:creationId xmlns:p14="http://schemas.microsoft.com/office/powerpoint/2010/main" val="2730714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C980F5A-FA2B-19D0-60B1-34BF96E9E7F8}"/>
              </a:ext>
            </a:extLst>
          </p:cNvPr>
          <p:cNvPicPr>
            <a:picLocks noChangeAspect="1"/>
          </p:cNvPicPr>
          <p:nvPr/>
        </p:nvPicPr>
        <p:blipFill>
          <a:blip r:embed="rId2"/>
          <a:stretch>
            <a:fillRect/>
          </a:stretch>
        </p:blipFill>
        <p:spPr>
          <a:xfrm>
            <a:off x="1385478" y="643467"/>
            <a:ext cx="4211843" cy="2543217"/>
          </a:xfrm>
          <a:prstGeom prst="rect">
            <a:avLst/>
          </a:prstGeom>
        </p:spPr>
      </p:pic>
      <p:cxnSp>
        <p:nvCxnSpPr>
          <p:cNvPr id="16" name="Straight Connector 15">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99A5505B-9FAF-72B2-9918-AB6B778DB23E}"/>
              </a:ext>
            </a:extLst>
          </p:cNvPr>
          <p:cNvPicPr>
            <a:picLocks noChangeAspect="1"/>
          </p:cNvPicPr>
          <p:nvPr/>
        </p:nvPicPr>
        <p:blipFill>
          <a:blip r:embed="rId3"/>
          <a:stretch>
            <a:fillRect/>
          </a:stretch>
        </p:blipFill>
        <p:spPr>
          <a:xfrm>
            <a:off x="6423873" y="643467"/>
            <a:ext cx="4561825" cy="2543217"/>
          </a:xfrm>
          <a:prstGeom prst="rect">
            <a:avLst/>
          </a:prstGeom>
        </p:spPr>
      </p:pic>
      <p:cxnSp>
        <p:nvCxnSpPr>
          <p:cNvPr id="18" name="Straight Connector 17">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ACB0414-60B6-A8DA-5CA9-2833103B6622}"/>
              </a:ext>
            </a:extLst>
          </p:cNvPr>
          <p:cNvPicPr>
            <a:picLocks noChangeAspect="1"/>
          </p:cNvPicPr>
          <p:nvPr/>
        </p:nvPicPr>
        <p:blipFill>
          <a:blip r:embed="rId4"/>
          <a:stretch>
            <a:fillRect/>
          </a:stretch>
        </p:blipFill>
        <p:spPr>
          <a:xfrm>
            <a:off x="1915014" y="3671316"/>
            <a:ext cx="3152770" cy="2545862"/>
          </a:xfrm>
          <a:prstGeom prst="rect">
            <a:avLst/>
          </a:prstGeom>
        </p:spPr>
      </p:pic>
      <p:pic>
        <p:nvPicPr>
          <p:cNvPr id="5" name="Picture 4">
            <a:extLst>
              <a:ext uri="{FF2B5EF4-FFF2-40B4-BE49-F238E27FC236}">
                <a16:creationId xmlns:a16="http://schemas.microsoft.com/office/drawing/2014/main" id="{7FA66358-6A01-0186-DC26-937C6B07EB2F}"/>
              </a:ext>
            </a:extLst>
          </p:cNvPr>
          <p:cNvPicPr>
            <a:picLocks noChangeAspect="1"/>
          </p:cNvPicPr>
          <p:nvPr/>
        </p:nvPicPr>
        <p:blipFill>
          <a:blip r:embed="rId5"/>
          <a:stretch>
            <a:fillRect/>
          </a:stretch>
        </p:blipFill>
        <p:spPr>
          <a:xfrm>
            <a:off x="7364382" y="3671316"/>
            <a:ext cx="2680807" cy="2553469"/>
          </a:xfrm>
          <a:prstGeom prst="rect">
            <a:avLst/>
          </a:prstGeom>
        </p:spPr>
      </p:pic>
    </p:spTree>
    <p:extLst>
      <p:ext uri="{BB962C8B-B14F-4D97-AF65-F5344CB8AC3E}">
        <p14:creationId xmlns:p14="http://schemas.microsoft.com/office/powerpoint/2010/main" val="2833011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7C387179-1C6E-9DB7-E58D-DE72DD685A47}"/>
              </a:ext>
            </a:extLst>
          </p:cNvPr>
          <p:cNvSpPr txBox="1">
            <a:spLocks/>
          </p:cNvSpPr>
          <p:nvPr/>
        </p:nvSpPr>
        <p:spPr>
          <a:xfrm>
            <a:off x="129397" y="355620"/>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GoogleNet model building:</a:t>
            </a:r>
          </a:p>
          <a:p>
            <a:r>
              <a:rPr lang="en-US" sz="1400" dirty="0"/>
              <a:t>The architecture is made of </a:t>
            </a:r>
            <a:r>
              <a:rPr lang="en-US" sz="1400" dirty="0">
                <a:solidFill>
                  <a:srgbClr val="FF00FF"/>
                </a:solidFill>
              </a:rPr>
              <a:t>9 inception modules </a:t>
            </a:r>
            <a:r>
              <a:rPr lang="en-US" sz="1400" dirty="0"/>
              <a:t>as well as </a:t>
            </a:r>
            <a:r>
              <a:rPr lang="en-US" sz="1400" dirty="0">
                <a:solidFill>
                  <a:srgbClr val="FF00FF"/>
                </a:solidFill>
              </a:rPr>
              <a:t>2 down-sample modules</a:t>
            </a:r>
            <a:r>
              <a:rPr lang="en-US" sz="1400" dirty="0"/>
              <a:t>. The inception modules consist of max pooling, 1x1, 3x3 and 5x5 kernels. </a:t>
            </a:r>
            <a:r>
              <a:rPr lang="en-US" sz="1400" dirty="0">
                <a:solidFill>
                  <a:srgbClr val="FF00FF"/>
                </a:solidFill>
              </a:rPr>
              <a:t>Batch normalization </a:t>
            </a:r>
            <a:r>
              <a:rPr lang="en-US" sz="1400" dirty="0"/>
              <a:t>is also included as each convolution layer.</a:t>
            </a:r>
          </a:p>
          <a:p>
            <a:r>
              <a:rPr lang="en-US" sz="1400" dirty="0"/>
              <a:t>The model is compiled using accuracy as the metric. The optimizer used is </a:t>
            </a:r>
            <a:r>
              <a:rPr lang="en-US" sz="1400" dirty="0">
                <a:solidFill>
                  <a:srgbClr val="FF00FF"/>
                </a:solidFill>
              </a:rPr>
              <a:t>SGD</a:t>
            </a:r>
            <a:r>
              <a:rPr lang="en-US" sz="1400" dirty="0"/>
              <a:t> and the loss function used is categorical crossentropy</a:t>
            </a:r>
          </a:p>
        </p:txBody>
      </p:sp>
      <p:sp>
        <p:nvSpPr>
          <p:cNvPr id="42" name="Content Placeholder 2">
            <a:extLst>
              <a:ext uri="{FF2B5EF4-FFF2-40B4-BE49-F238E27FC236}">
                <a16:creationId xmlns:a16="http://schemas.microsoft.com/office/drawing/2014/main" id="{1F40EB65-0874-A262-1158-9FEE1BD8A98B}"/>
              </a:ext>
            </a:extLst>
          </p:cNvPr>
          <p:cNvSpPr txBox="1">
            <a:spLocks/>
          </p:cNvSpPr>
          <p:nvPr/>
        </p:nvSpPr>
        <p:spPr>
          <a:xfrm>
            <a:off x="129397" y="2569734"/>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Base AlexNet settings and results:</a:t>
            </a:r>
          </a:p>
          <a:p>
            <a:r>
              <a:rPr lang="en-US" sz="1600" dirty="0"/>
              <a:t>Base GoogleNet uses a dropout of 0.5 and a constant learning rate of 0.0005</a:t>
            </a:r>
          </a:p>
          <a:p>
            <a:r>
              <a:rPr lang="en-US" sz="1600" dirty="0"/>
              <a:t>The model is then fitted using batch size of 64 and ran for 10 epochs.  </a:t>
            </a:r>
          </a:p>
          <a:p>
            <a:r>
              <a:rPr lang="en-US" sz="1600" dirty="0"/>
              <a:t>The model was able to get a test accuracy of 0.732 and test score (loss) of 0.782</a:t>
            </a:r>
          </a:p>
          <a:p>
            <a:endParaRPr lang="en-US" sz="1200" dirty="0"/>
          </a:p>
        </p:txBody>
      </p:sp>
      <p:sp>
        <p:nvSpPr>
          <p:cNvPr id="49" name="Content Placeholder 2">
            <a:extLst>
              <a:ext uri="{FF2B5EF4-FFF2-40B4-BE49-F238E27FC236}">
                <a16:creationId xmlns:a16="http://schemas.microsoft.com/office/drawing/2014/main" id="{E97A4F19-6C20-3955-1B12-8EF55E18B3D0}"/>
              </a:ext>
            </a:extLst>
          </p:cNvPr>
          <p:cNvSpPr txBox="1">
            <a:spLocks/>
          </p:cNvSpPr>
          <p:nvPr/>
        </p:nvSpPr>
        <p:spPr>
          <a:xfrm>
            <a:off x="4776492" y="355620"/>
            <a:ext cx="7415507" cy="69250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GoogleNet fine tuning using Bayesian Optimization:</a:t>
            </a:r>
          </a:p>
          <a:p>
            <a:r>
              <a:rPr lang="en-US" sz="1400" dirty="0"/>
              <a:t>Parameters that were chosen for fine tuning were dropout(0.3 to 0.7) and batch size (32 to 256). The optimizer was run for 5 iterations.</a:t>
            </a:r>
          </a:p>
          <a:p>
            <a:r>
              <a:rPr lang="en-US" sz="1400" dirty="0"/>
              <a:t>The best and final parameters are:</a:t>
            </a:r>
          </a:p>
          <a:p>
            <a:endParaRPr lang="en-US" sz="1400" dirty="0"/>
          </a:p>
          <a:p>
            <a:endParaRPr lang="en-US" sz="1400" dirty="0"/>
          </a:p>
          <a:p>
            <a:pPr marL="0" indent="0">
              <a:buNone/>
            </a:pPr>
            <a:endParaRPr lang="en-US" sz="1400" dirty="0"/>
          </a:p>
          <a:p>
            <a:pPr marL="0" indent="0">
              <a:buNone/>
            </a:pPr>
            <a:endParaRPr lang="en-US" sz="1400" dirty="0"/>
          </a:p>
          <a:p>
            <a:r>
              <a:rPr lang="en-US" sz="1400" dirty="0">
                <a:solidFill>
                  <a:srgbClr val="FF00FF"/>
                </a:solidFill>
              </a:rPr>
              <a:t>Additionally</a:t>
            </a:r>
            <a:r>
              <a:rPr lang="en-US" sz="1400" dirty="0"/>
              <a:t>, learning rate was optimized in a different way using a scheduler, which decreases the learning rate in a polynomial manner as the number of epochs increases. The point of this is to avoid the model from oscillating too far away from the minima during the backpropagation gradient descent process.</a:t>
            </a:r>
          </a:p>
          <a:p>
            <a:endParaRPr lang="en-US" sz="1400" dirty="0"/>
          </a:p>
          <a:p>
            <a:endParaRPr lang="en-US" sz="1400" dirty="0"/>
          </a:p>
          <a:p>
            <a:r>
              <a:rPr lang="en-US" sz="1400" dirty="0"/>
              <a:t>Model was then rebuilt using the parameters with a learning rate scheduler passed as callback. Number of epochs was increased to 120. These are the final results:</a:t>
            </a:r>
          </a:p>
          <a:p>
            <a:endParaRPr lang="en-US" sz="1400" dirty="0"/>
          </a:p>
          <a:p>
            <a:endParaRPr lang="en-US" sz="1400" dirty="0"/>
          </a:p>
          <a:p>
            <a:endParaRPr lang="en-US" sz="1400" dirty="0"/>
          </a:p>
          <a:p>
            <a:r>
              <a:rPr lang="en-US" sz="1400" dirty="0"/>
              <a:t>We can see that there is a significant improvement to the model’s test accuracy from 0.732 to 0.922. This is due to the increase in number of epochs and learning rate scheduler. </a:t>
            </a:r>
          </a:p>
          <a:p>
            <a:r>
              <a:rPr lang="en-US" sz="1400" dirty="0"/>
              <a:t>We can also see that the test score was able to decrease from 0.782 to 0.393, a decrease in half. Our model is able to classify more than 90 percent of the images, which is very good. </a:t>
            </a:r>
            <a:endParaRPr lang="en-US" sz="1600" dirty="0"/>
          </a:p>
        </p:txBody>
      </p:sp>
      <p:cxnSp>
        <p:nvCxnSpPr>
          <p:cNvPr id="57" name="Straight Connector 56">
            <a:extLst>
              <a:ext uri="{FF2B5EF4-FFF2-40B4-BE49-F238E27FC236}">
                <a16:creationId xmlns:a16="http://schemas.microsoft.com/office/drawing/2014/main" id="{F6226EAC-3B96-CB71-6AFF-CDA90712A37F}"/>
              </a:ext>
            </a:extLst>
          </p:cNvPr>
          <p:cNvCxnSpPr/>
          <p:nvPr/>
        </p:nvCxnSpPr>
        <p:spPr>
          <a:xfrm>
            <a:off x="4658264" y="312430"/>
            <a:ext cx="0" cy="61249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0D28F556-387F-E772-C0D6-E57B229B0792}"/>
              </a:ext>
            </a:extLst>
          </p:cNvPr>
          <p:cNvPicPr>
            <a:picLocks noChangeAspect="1"/>
          </p:cNvPicPr>
          <p:nvPr/>
        </p:nvPicPr>
        <p:blipFill>
          <a:blip r:embed="rId2"/>
          <a:stretch>
            <a:fillRect/>
          </a:stretch>
        </p:blipFill>
        <p:spPr>
          <a:xfrm>
            <a:off x="342455" y="4643123"/>
            <a:ext cx="3884460" cy="385525"/>
          </a:xfrm>
          <a:prstGeom prst="rect">
            <a:avLst/>
          </a:prstGeom>
        </p:spPr>
      </p:pic>
      <p:pic>
        <p:nvPicPr>
          <p:cNvPr id="8" name="Picture 7">
            <a:extLst>
              <a:ext uri="{FF2B5EF4-FFF2-40B4-BE49-F238E27FC236}">
                <a16:creationId xmlns:a16="http://schemas.microsoft.com/office/drawing/2014/main" id="{3E0E774D-FE34-BEFC-CA39-9EDDFBC84CF6}"/>
              </a:ext>
            </a:extLst>
          </p:cNvPr>
          <p:cNvPicPr>
            <a:picLocks noChangeAspect="1"/>
          </p:cNvPicPr>
          <p:nvPr/>
        </p:nvPicPr>
        <p:blipFill>
          <a:blip r:embed="rId3"/>
          <a:stretch>
            <a:fillRect/>
          </a:stretch>
        </p:blipFill>
        <p:spPr>
          <a:xfrm>
            <a:off x="364852" y="5096734"/>
            <a:ext cx="3821501" cy="672800"/>
          </a:xfrm>
          <a:prstGeom prst="rect">
            <a:avLst/>
          </a:prstGeom>
        </p:spPr>
      </p:pic>
      <p:pic>
        <p:nvPicPr>
          <p:cNvPr id="10" name="Picture 9">
            <a:extLst>
              <a:ext uri="{FF2B5EF4-FFF2-40B4-BE49-F238E27FC236}">
                <a16:creationId xmlns:a16="http://schemas.microsoft.com/office/drawing/2014/main" id="{FBB11260-7277-DA91-2E2C-9B51E08F1610}"/>
              </a:ext>
            </a:extLst>
          </p:cNvPr>
          <p:cNvPicPr>
            <a:picLocks noChangeAspect="1"/>
          </p:cNvPicPr>
          <p:nvPr/>
        </p:nvPicPr>
        <p:blipFill>
          <a:blip r:embed="rId4"/>
          <a:stretch>
            <a:fillRect/>
          </a:stretch>
        </p:blipFill>
        <p:spPr>
          <a:xfrm>
            <a:off x="342455" y="5837619"/>
            <a:ext cx="3896279" cy="834133"/>
          </a:xfrm>
          <a:prstGeom prst="rect">
            <a:avLst/>
          </a:prstGeom>
        </p:spPr>
      </p:pic>
      <p:pic>
        <p:nvPicPr>
          <p:cNvPr id="14" name="Picture 13">
            <a:extLst>
              <a:ext uri="{FF2B5EF4-FFF2-40B4-BE49-F238E27FC236}">
                <a16:creationId xmlns:a16="http://schemas.microsoft.com/office/drawing/2014/main" id="{B8ACE52F-0809-5EAD-677F-529C886BF583}"/>
              </a:ext>
            </a:extLst>
          </p:cNvPr>
          <p:cNvPicPr>
            <a:picLocks noChangeAspect="1"/>
          </p:cNvPicPr>
          <p:nvPr/>
        </p:nvPicPr>
        <p:blipFill>
          <a:blip r:embed="rId5"/>
          <a:stretch>
            <a:fillRect/>
          </a:stretch>
        </p:blipFill>
        <p:spPr>
          <a:xfrm>
            <a:off x="5130176" y="1437005"/>
            <a:ext cx="5611668" cy="453911"/>
          </a:xfrm>
          <a:prstGeom prst="rect">
            <a:avLst/>
          </a:prstGeom>
        </p:spPr>
      </p:pic>
      <p:pic>
        <p:nvPicPr>
          <p:cNvPr id="18" name="Picture 17">
            <a:extLst>
              <a:ext uri="{FF2B5EF4-FFF2-40B4-BE49-F238E27FC236}">
                <a16:creationId xmlns:a16="http://schemas.microsoft.com/office/drawing/2014/main" id="{1EE734F1-A677-39D2-1CE5-7836A67AC847}"/>
              </a:ext>
            </a:extLst>
          </p:cNvPr>
          <p:cNvPicPr>
            <a:picLocks noChangeAspect="1"/>
          </p:cNvPicPr>
          <p:nvPr/>
        </p:nvPicPr>
        <p:blipFill>
          <a:blip r:embed="rId6"/>
          <a:stretch>
            <a:fillRect/>
          </a:stretch>
        </p:blipFill>
        <p:spPr>
          <a:xfrm>
            <a:off x="5130176" y="3689192"/>
            <a:ext cx="2497533" cy="620568"/>
          </a:xfrm>
          <a:prstGeom prst="rect">
            <a:avLst/>
          </a:prstGeom>
        </p:spPr>
      </p:pic>
      <p:pic>
        <p:nvPicPr>
          <p:cNvPr id="20" name="Picture 19">
            <a:extLst>
              <a:ext uri="{FF2B5EF4-FFF2-40B4-BE49-F238E27FC236}">
                <a16:creationId xmlns:a16="http://schemas.microsoft.com/office/drawing/2014/main" id="{8E09BCB9-CCAB-7EB6-BD5A-44849BAC949A}"/>
              </a:ext>
            </a:extLst>
          </p:cNvPr>
          <p:cNvPicPr>
            <a:picLocks noChangeAspect="1"/>
          </p:cNvPicPr>
          <p:nvPr/>
        </p:nvPicPr>
        <p:blipFill>
          <a:blip r:embed="rId7"/>
          <a:stretch>
            <a:fillRect/>
          </a:stretch>
        </p:blipFill>
        <p:spPr>
          <a:xfrm>
            <a:off x="5130176" y="1890916"/>
            <a:ext cx="1448002" cy="800212"/>
          </a:xfrm>
          <a:prstGeom prst="rect">
            <a:avLst/>
          </a:prstGeom>
        </p:spPr>
      </p:pic>
      <p:pic>
        <p:nvPicPr>
          <p:cNvPr id="22" name="Picture 21">
            <a:extLst>
              <a:ext uri="{FF2B5EF4-FFF2-40B4-BE49-F238E27FC236}">
                <a16:creationId xmlns:a16="http://schemas.microsoft.com/office/drawing/2014/main" id="{0A3480B4-F9A8-429A-AE0A-C5EFCB9DEE9A}"/>
              </a:ext>
            </a:extLst>
          </p:cNvPr>
          <p:cNvPicPr>
            <a:picLocks noChangeAspect="1"/>
          </p:cNvPicPr>
          <p:nvPr/>
        </p:nvPicPr>
        <p:blipFill>
          <a:blip r:embed="rId8"/>
          <a:stretch>
            <a:fillRect/>
          </a:stretch>
        </p:blipFill>
        <p:spPr>
          <a:xfrm>
            <a:off x="5077795" y="4835885"/>
            <a:ext cx="4110406" cy="933649"/>
          </a:xfrm>
          <a:prstGeom prst="rect">
            <a:avLst/>
          </a:prstGeom>
        </p:spPr>
      </p:pic>
      <p:pic>
        <p:nvPicPr>
          <p:cNvPr id="24" name="Picture 23">
            <a:extLst>
              <a:ext uri="{FF2B5EF4-FFF2-40B4-BE49-F238E27FC236}">
                <a16:creationId xmlns:a16="http://schemas.microsoft.com/office/drawing/2014/main" id="{7B37706C-2E80-C549-09A2-6BFF4A6791CA}"/>
              </a:ext>
            </a:extLst>
          </p:cNvPr>
          <p:cNvPicPr>
            <a:picLocks noChangeAspect="1"/>
          </p:cNvPicPr>
          <p:nvPr/>
        </p:nvPicPr>
        <p:blipFill>
          <a:blip r:embed="rId9"/>
          <a:stretch>
            <a:fillRect/>
          </a:stretch>
        </p:blipFill>
        <p:spPr>
          <a:xfrm>
            <a:off x="9306428" y="4833954"/>
            <a:ext cx="2372849" cy="935580"/>
          </a:xfrm>
          <a:prstGeom prst="rect">
            <a:avLst/>
          </a:prstGeom>
        </p:spPr>
      </p:pic>
    </p:spTree>
    <p:extLst>
      <p:ext uri="{BB962C8B-B14F-4D97-AF65-F5344CB8AC3E}">
        <p14:creationId xmlns:p14="http://schemas.microsoft.com/office/powerpoint/2010/main" val="151420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FED2B0D-56A2-BAAD-CC13-3EF6AC5015EC}"/>
              </a:ext>
            </a:extLst>
          </p:cNvPr>
          <p:cNvPicPr>
            <a:picLocks noChangeAspect="1"/>
          </p:cNvPicPr>
          <p:nvPr/>
        </p:nvPicPr>
        <p:blipFill>
          <a:blip r:embed="rId2"/>
          <a:stretch>
            <a:fillRect/>
          </a:stretch>
        </p:blipFill>
        <p:spPr>
          <a:xfrm>
            <a:off x="1499793" y="643467"/>
            <a:ext cx="3983212" cy="2543217"/>
          </a:xfrm>
          <a:prstGeom prst="rect">
            <a:avLst/>
          </a:prstGeom>
        </p:spPr>
      </p:pic>
      <p:cxnSp>
        <p:nvCxnSpPr>
          <p:cNvPr id="16" name="Straight Connector 15">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descr="A collage of different animals&#10;&#10;Description automatically generated with low confidence">
            <a:extLst>
              <a:ext uri="{FF2B5EF4-FFF2-40B4-BE49-F238E27FC236}">
                <a16:creationId xmlns:a16="http://schemas.microsoft.com/office/drawing/2014/main" id="{85F28585-A119-4B56-9B51-1C7916A32A58}"/>
              </a:ext>
            </a:extLst>
          </p:cNvPr>
          <p:cNvPicPr>
            <a:picLocks noChangeAspect="1"/>
          </p:cNvPicPr>
          <p:nvPr/>
        </p:nvPicPr>
        <p:blipFill>
          <a:blip r:embed="rId3"/>
          <a:stretch>
            <a:fillRect/>
          </a:stretch>
        </p:blipFill>
        <p:spPr>
          <a:xfrm>
            <a:off x="6339003" y="643467"/>
            <a:ext cx="4731566" cy="2543217"/>
          </a:xfrm>
          <a:prstGeom prst="rect">
            <a:avLst/>
          </a:prstGeom>
        </p:spPr>
      </p:pic>
      <p:cxnSp>
        <p:nvCxnSpPr>
          <p:cNvPr id="18" name="Straight Connector 17">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C8CE1ACA-9113-1258-891D-02ECFD0566DD}"/>
              </a:ext>
            </a:extLst>
          </p:cNvPr>
          <p:cNvPicPr>
            <a:picLocks noChangeAspect="1"/>
          </p:cNvPicPr>
          <p:nvPr/>
        </p:nvPicPr>
        <p:blipFill>
          <a:blip r:embed="rId4"/>
          <a:stretch>
            <a:fillRect/>
          </a:stretch>
        </p:blipFill>
        <p:spPr>
          <a:xfrm>
            <a:off x="1943763" y="3671316"/>
            <a:ext cx="3095273" cy="2545862"/>
          </a:xfrm>
          <a:prstGeom prst="rect">
            <a:avLst/>
          </a:prstGeom>
        </p:spPr>
      </p:pic>
      <p:pic>
        <p:nvPicPr>
          <p:cNvPr id="5" name="Picture 4">
            <a:extLst>
              <a:ext uri="{FF2B5EF4-FFF2-40B4-BE49-F238E27FC236}">
                <a16:creationId xmlns:a16="http://schemas.microsoft.com/office/drawing/2014/main" id="{ADAB6D83-E7E8-3579-4B69-D4EF9AFFC6A4}"/>
              </a:ext>
            </a:extLst>
          </p:cNvPr>
          <p:cNvPicPr>
            <a:picLocks noChangeAspect="1"/>
          </p:cNvPicPr>
          <p:nvPr/>
        </p:nvPicPr>
        <p:blipFill>
          <a:blip r:embed="rId5"/>
          <a:stretch>
            <a:fillRect/>
          </a:stretch>
        </p:blipFill>
        <p:spPr>
          <a:xfrm>
            <a:off x="7342936" y="3671316"/>
            <a:ext cx="2723700" cy="2553469"/>
          </a:xfrm>
          <a:prstGeom prst="rect">
            <a:avLst/>
          </a:prstGeom>
        </p:spPr>
      </p:pic>
    </p:spTree>
    <p:extLst>
      <p:ext uri="{BB962C8B-B14F-4D97-AF65-F5344CB8AC3E}">
        <p14:creationId xmlns:p14="http://schemas.microsoft.com/office/powerpoint/2010/main" val="696312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7C387179-1C6E-9DB7-E58D-DE72DD685A47}"/>
              </a:ext>
            </a:extLst>
          </p:cNvPr>
          <p:cNvSpPr txBox="1">
            <a:spLocks/>
          </p:cNvSpPr>
          <p:nvPr/>
        </p:nvSpPr>
        <p:spPr>
          <a:xfrm>
            <a:off x="129396" y="355620"/>
            <a:ext cx="4293411"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err="1"/>
              <a:t>ResNet</a:t>
            </a:r>
            <a:r>
              <a:rPr lang="en-US" sz="1400" dirty="0"/>
              <a:t> model building:</a:t>
            </a:r>
          </a:p>
          <a:p>
            <a:r>
              <a:rPr lang="en-US" sz="1400" dirty="0"/>
              <a:t>The architecture is made of </a:t>
            </a:r>
            <a:r>
              <a:rPr lang="en-US" sz="1400" dirty="0">
                <a:solidFill>
                  <a:srgbClr val="FF00FF"/>
                </a:solidFill>
              </a:rPr>
              <a:t>9 residual blocks </a:t>
            </a:r>
            <a:r>
              <a:rPr lang="en-US" sz="1400" dirty="0"/>
              <a:t>that contains 3 convolution layers of 1x1, 3x3 and 1x1 kernels respectively and batch normalization layers. This results in a final architecture of 56 layers, often referred to as ResNet56</a:t>
            </a:r>
          </a:p>
          <a:p>
            <a:r>
              <a:rPr lang="en-US" sz="1400" dirty="0"/>
              <a:t>The model is compiled using accuracy as the metric. The optimizer used is SGD with a </a:t>
            </a:r>
            <a:r>
              <a:rPr lang="en-US" sz="1400" dirty="0">
                <a:solidFill>
                  <a:srgbClr val="FF00FF"/>
                </a:solidFill>
              </a:rPr>
              <a:t>momentum of 0.9 </a:t>
            </a:r>
            <a:r>
              <a:rPr lang="en-US" sz="1400" dirty="0"/>
              <a:t>and the loss function used is categorical crossentropy</a:t>
            </a:r>
          </a:p>
          <a:p>
            <a:endParaRPr lang="en-US" sz="1400" dirty="0">
              <a:solidFill>
                <a:srgbClr val="FF00FF"/>
              </a:solidFill>
            </a:endParaRPr>
          </a:p>
        </p:txBody>
      </p:sp>
      <p:sp>
        <p:nvSpPr>
          <p:cNvPr id="42" name="Content Placeholder 2">
            <a:extLst>
              <a:ext uri="{FF2B5EF4-FFF2-40B4-BE49-F238E27FC236}">
                <a16:creationId xmlns:a16="http://schemas.microsoft.com/office/drawing/2014/main" id="{1F40EB65-0874-A262-1158-9FEE1BD8A98B}"/>
              </a:ext>
            </a:extLst>
          </p:cNvPr>
          <p:cNvSpPr txBox="1">
            <a:spLocks/>
          </p:cNvSpPr>
          <p:nvPr/>
        </p:nvSpPr>
        <p:spPr>
          <a:xfrm>
            <a:off x="129397" y="2569734"/>
            <a:ext cx="4175184" cy="24589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Base </a:t>
            </a:r>
            <a:r>
              <a:rPr lang="en-US" sz="1400" dirty="0" err="1"/>
              <a:t>ResNet</a:t>
            </a:r>
            <a:r>
              <a:rPr lang="en-US" sz="1400" dirty="0"/>
              <a:t> settings and results:</a:t>
            </a:r>
          </a:p>
          <a:p>
            <a:r>
              <a:rPr lang="en-US" sz="1400" dirty="0"/>
              <a:t>Base </a:t>
            </a:r>
            <a:r>
              <a:rPr lang="en-US" sz="1400" dirty="0" err="1"/>
              <a:t>ResNet</a:t>
            </a:r>
            <a:r>
              <a:rPr lang="en-US" sz="1400" dirty="0"/>
              <a:t> uses a regularization rate of 0.0005. The number of filters within the convolutional layers are </a:t>
            </a:r>
            <a:r>
              <a:rPr lang="en-SG" sz="1400" dirty="0"/>
              <a:t>(64, 64, 128, 256)</a:t>
            </a:r>
            <a:endParaRPr lang="en-US" sz="1400" dirty="0"/>
          </a:p>
          <a:p>
            <a:r>
              <a:rPr lang="en-US" sz="1400" dirty="0"/>
              <a:t>The model is then fitted using batch size of 128 and ran for 10 epochs.  </a:t>
            </a:r>
          </a:p>
          <a:p>
            <a:r>
              <a:rPr lang="en-US" sz="1400" dirty="0"/>
              <a:t>The model was able to get a test accuracy of 0.852 and test score (loss) of 0.792</a:t>
            </a:r>
          </a:p>
          <a:p>
            <a:endParaRPr lang="en-US" sz="1200" dirty="0"/>
          </a:p>
        </p:txBody>
      </p:sp>
      <p:sp>
        <p:nvSpPr>
          <p:cNvPr id="49" name="Content Placeholder 2">
            <a:extLst>
              <a:ext uri="{FF2B5EF4-FFF2-40B4-BE49-F238E27FC236}">
                <a16:creationId xmlns:a16="http://schemas.microsoft.com/office/drawing/2014/main" id="{E97A4F19-6C20-3955-1B12-8EF55E18B3D0}"/>
              </a:ext>
            </a:extLst>
          </p:cNvPr>
          <p:cNvSpPr txBox="1">
            <a:spLocks/>
          </p:cNvSpPr>
          <p:nvPr/>
        </p:nvSpPr>
        <p:spPr>
          <a:xfrm>
            <a:off x="4776492" y="355620"/>
            <a:ext cx="7415507" cy="69250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dirty="0"/>
              <a:t>GoogleNet fine tuning using Bayesian Optimization:</a:t>
            </a:r>
          </a:p>
          <a:p>
            <a:r>
              <a:rPr lang="en-US" sz="1400" dirty="0"/>
              <a:t>Parameters that were chosen for fine tuning were </a:t>
            </a:r>
            <a:r>
              <a:rPr lang="en-US" sz="1400" dirty="0">
                <a:solidFill>
                  <a:srgbClr val="FF00FF"/>
                </a:solidFill>
              </a:rPr>
              <a:t>regularization rate (0.0001 to 0.0005) </a:t>
            </a:r>
            <a:r>
              <a:rPr lang="en-US" sz="1400" dirty="0"/>
              <a:t>and batch size (64 to 256). The optimizer was run for 6 iterations.</a:t>
            </a:r>
          </a:p>
          <a:p>
            <a:r>
              <a:rPr lang="en-US" sz="1400" dirty="0"/>
              <a:t>The best and final parameters are:</a:t>
            </a:r>
          </a:p>
          <a:p>
            <a:endParaRPr lang="en-US" sz="1400" dirty="0"/>
          </a:p>
          <a:p>
            <a:endParaRPr lang="en-US" sz="1400" dirty="0"/>
          </a:p>
          <a:p>
            <a:pPr marL="0" indent="0">
              <a:buNone/>
            </a:pPr>
            <a:endParaRPr lang="en-US" sz="1400" dirty="0"/>
          </a:p>
          <a:p>
            <a:pPr marL="0" indent="0">
              <a:buNone/>
            </a:pPr>
            <a:endParaRPr lang="en-US" sz="1400" dirty="0"/>
          </a:p>
          <a:p>
            <a:r>
              <a:rPr lang="en-US" sz="1400" dirty="0">
                <a:solidFill>
                  <a:srgbClr val="FF00FF"/>
                </a:solidFill>
              </a:rPr>
              <a:t>Additionally</a:t>
            </a:r>
            <a:r>
              <a:rPr lang="en-US" sz="1400" dirty="0"/>
              <a:t>, after the model was ran for 100 epochs, I noticed the validation accuracy was still improving, hence I saved the model and continue training for another 20 epochs.</a:t>
            </a:r>
          </a:p>
          <a:p>
            <a:pPr marL="0" indent="0">
              <a:buNone/>
            </a:pPr>
            <a:endParaRPr lang="en-US" sz="1400" dirty="0"/>
          </a:p>
          <a:p>
            <a:endParaRPr lang="en-US" sz="1400" dirty="0"/>
          </a:p>
          <a:p>
            <a:r>
              <a:rPr lang="en-US" sz="1400" dirty="0"/>
              <a:t>The final results are:</a:t>
            </a:r>
          </a:p>
          <a:p>
            <a:endParaRPr lang="en-US" sz="1400" dirty="0"/>
          </a:p>
          <a:p>
            <a:endParaRPr lang="en-US" sz="1400" dirty="0"/>
          </a:p>
          <a:p>
            <a:endParaRPr lang="en-US" sz="1400" dirty="0"/>
          </a:p>
          <a:p>
            <a:r>
              <a:rPr lang="en-US" sz="1400" dirty="0"/>
              <a:t>We can see that there is a significant improvement to the model’s test accuracy from 0.852 to 0.9372. This result actually matches the original </a:t>
            </a:r>
            <a:r>
              <a:rPr lang="en-US" sz="1400" dirty="0" err="1"/>
              <a:t>ResNet</a:t>
            </a:r>
            <a:r>
              <a:rPr lang="en-US" sz="1400" dirty="0"/>
              <a:t> tested on CIFAR10 in the research paper by </a:t>
            </a:r>
            <a:r>
              <a:rPr lang="en-SG" sz="1400" dirty="0"/>
              <a:t>He et al</a:t>
            </a:r>
            <a:endParaRPr lang="en-US" sz="1400" dirty="0"/>
          </a:p>
          <a:p>
            <a:r>
              <a:rPr lang="en-US" sz="1400" dirty="0"/>
              <a:t>We can also see that the test score was able to decrease from 0.792 to 0.408. This is our best model out of all. Hence I will use it for android deployment</a:t>
            </a:r>
          </a:p>
        </p:txBody>
      </p:sp>
      <p:cxnSp>
        <p:nvCxnSpPr>
          <p:cNvPr id="57" name="Straight Connector 56">
            <a:extLst>
              <a:ext uri="{FF2B5EF4-FFF2-40B4-BE49-F238E27FC236}">
                <a16:creationId xmlns:a16="http://schemas.microsoft.com/office/drawing/2014/main" id="{F6226EAC-3B96-CB71-6AFF-CDA90712A37F}"/>
              </a:ext>
            </a:extLst>
          </p:cNvPr>
          <p:cNvCxnSpPr/>
          <p:nvPr/>
        </p:nvCxnSpPr>
        <p:spPr>
          <a:xfrm>
            <a:off x="4658264" y="312430"/>
            <a:ext cx="0" cy="61249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B5CF3F23-66F4-8C50-5D1D-F82B59E27E52}"/>
              </a:ext>
            </a:extLst>
          </p:cNvPr>
          <p:cNvPicPr>
            <a:picLocks noChangeAspect="1"/>
          </p:cNvPicPr>
          <p:nvPr/>
        </p:nvPicPr>
        <p:blipFill>
          <a:blip r:embed="rId2"/>
          <a:stretch>
            <a:fillRect/>
          </a:stretch>
        </p:blipFill>
        <p:spPr>
          <a:xfrm>
            <a:off x="462771" y="4561443"/>
            <a:ext cx="3213887" cy="581127"/>
          </a:xfrm>
          <a:prstGeom prst="rect">
            <a:avLst/>
          </a:prstGeom>
        </p:spPr>
      </p:pic>
      <p:pic>
        <p:nvPicPr>
          <p:cNvPr id="6" name="Picture 5">
            <a:extLst>
              <a:ext uri="{FF2B5EF4-FFF2-40B4-BE49-F238E27FC236}">
                <a16:creationId xmlns:a16="http://schemas.microsoft.com/office/drawing/2014/main" id="{FA4CBCF6-E953-FB44-9EC5-3AE8E9C5173F}"/>
              </a:ext>
            </a:extLst>
          </p:cNvPr>
          <p:cNvPicPr>
            <a:picLocks noChangeAspect="1"/>
          </p:cNvPicPr>
          <p:nvPr/>
        </p:nvPicPr>
        <p:blipFill>
          <a:blip r:embed="rId3"/>
          <a:stretch>
            <a:fillRect/>
          </a:stretch>
        </p:blipFill>
        <p:spPr>
          <a:xfrm>
            <a:off x="478363" y="5142570"/>
            <a:ext cx="2303104" cy="942721"/>
          </a:xfrm>
          <a:prstGeom prst="rect">
            <a:avLst/>
          </a:prstGeom>
        </p:spPr>
      </p:pic>
      <p:pic>
        <p:nvPicPr>
          <p:cNvPr id="9" name="Picture 8">
            <a:extLst>
              <a:ext uri="{FF2B5EF4-FFF2-40B4-BE49-F238E27FC236}">
                <a16:creationId xmlns:a16="http://schemas.microsoft.com/office/drawing/2014/main" id="{F3D11AA4-93AE-081A-540D-341EE81B1E7E}"/>
              </a:ext>
            </a:extLst>
          </p:cNvPr>
          <p:cNvPicPr>
            <a:picLocks noChangeAspect="1"/>
          </p:cNvPicPr>
          <p:nvPr/>
        </p:nvPicPr>
        <p:blipFill>
          <a:blip r:embed="rId4"/>
          <a:stretch>
            <a:fillRect/>
          </a:stretch>
        </p:blipFill>
        <p:spPr>
          <a:xfrm>
            <a:off x="478363" y="6085291"/>
            <a:ext cx="3785847" cy="764709"/>
          </a:xfrm>
          <a:prstGeom prst="rect">
            <a:avLst/>
          </a:prstGeom>
        </p:spPr>
      </p:pic>
      <p:pic>
        <p:nvPicPr>
          <p:cNvPr id="12" name="Picture 11">
            <a:extLst>
              <a:ext uri="{FF2B5EF4-FFF2-40B4-BE49-F238E27FC236}">
                <a16:creationId xmlns:a16="http://schemas.microsoft.com/office/drawing/2014/main" id="{3A8C6307-34E3-23E4-1F17-B93066302C1A}"/>
              </a:ext>
            </a:extLst>
          </p:cNvPr>
          <p:cNvPicPr>
            <a:picLocks noChangeAspect="1"/>
          </p:cNvPicPr>
          <p:nvPr/>
        </p:nvPicPr>
        <p:blipFill>
          <a:blip r:embed="rId5"/>
          <a:stretch>
            <a:fillRect/>
          </a:stretch>
        </p:blipFill>
        <p:spPr>
          <a:xfrm>
            <a:off x="5130176" y="1507703"/>
            <a:ext cx="5994579" cy="514412"/>
          </a:xfrm>
          <a:prstGeom prst="rect">
            <a:avLst/>
          </a:prstGeom>
        </p:spPr>
      </p:pic>
      <p:pic>
        <p:nvPicPr>
          <p:cNvPr id="15" name="Picture 14">
            <a:extLst>
              <a:ext uri="{FF2B5EF4-FFF2-40B4-BE49-F238E27FC236}">
                <a16:creationId xmlns:a16="http://schemas.microsoft.com/office/drawing/2014/main" id="{E5D7684D-984C-821A-1614-0C2712CCD256}"/>
              </a:ext>
            </a:extLst>
          </p:cNvPr>
          <p:cNvPicPr>
            <a:picLocks noChangeAspect="1"/>
          </p:cNvPicPr>
          <p:nvPr/>
        </p:nvPicPr>
        <p:blipFill>
          <a:blip r:embed="rId6"/>
          <a:stretch>
            <a:fillRect/>
          </a:stretch>
        </p:blipFill>
        <p:spPr>
          <a:xfrm>
            <a:off x="5130176" y="1967957"/>
            <a:ext cx="5553850" cy="809738"/>
          </a:xfrm>
          <a:prstGeom prst="rect">
            <a:avLst/>
          </a:prstGeom>
        </p:spPr>
      </p:pic>
      <p:pic>
        <p:nvPicPr>
          <p:cNvPr id="17" name="Picture 16">
            <a:extLst>
              <a:ext uri="{FF2B5EF4-FFF2-40B4-BE49-F238E27FC236}">
                <a16:creationId xmlns:a16="http://schemas.microsoft.com/office/drawing/2014/main" id="{42BE6216-C194-AC71-AC4D-6C1C1D741E66}"/>
              </a:ext>
            </a:extLst>
          </p:cNvPr>
          <p:cNvPicPr>
            <a:picLocks noChangeAspect="1"/>
          </p:cNvPicPr>
          <p:nvPr/>
        </p:nvPicPr>
        <p:blipFill>
          <a:blip r:embed="rId7"/>
          <a:stretch>
            <a:fillRect/>
          </a:stretch>
        </p:blipFill>
        <p:spPr>
          <a:xfrm>
            <a:off x="5170547" y="3212504"/>
            <a:ext cx="2603282" cy="571128"/>
          </a:xfrm>
          <a:prstGeom prst="rect">
            <a:avLst/>
          </a:prstGeom>
        </p:spPr>
      </p:pic>
      <p:pic>
        <p:nvPicPr>
          <p:cNvPr id="21" name="Picture 20">
            <a:extLst>
              <a:ext uri="{FF2B5EF4-FFF2-40B4-BE49-F238E27FC236}">
                <a16:creationId xmlns:a16="http://schemas.microsoft.com/office/drawing/2014/main" id="{085F21DB-62DB-B635-9915-D7F0AE1355CF}"/>
              </a:ext>
            </a:extLst>
          </p:cNvPr>
          <p:cNvPicPr>
            <a:picLocks noChangeAspect="1"/>
          </p:cNvPicPr>
          <p:nvPr/>
        </p:nvPicPr>
        <p:blipFill>
          <a:blip r:embed="rId8"/>
          <a:stretch>
            <a:fillRect/>
          </a:stretch>
        </p:blipFill>
        <p:spPr>
          <a:xfrm>
            <a:off x="7907101" y="3170835"/>
            <a:ext cx="2203057" cy="826146"/>
          </a:xfrm>
          <a:prstGeom prst="rect">
            <a:avLst/>
          </a:prstGeom>
        </p:spPr>
      </p:pic>
      <p:pic>
        <p:nvPicPr>
          <p:cNvPr id="25" name="Picture 24">
            <a:extLst>
              <a:ext uri="{FF2B5EF4-FFF2-40B4-BE49-F238E27FC236}">
                <a16:creationId xmlns:a16="http://schemas.microsoft.com/office/drawing/2014/main" id="{915CD060-5ABE-9B7C-33D7-49CCF64BAC12}"/>
              </a:ext>
            </a:extLst>
          </p:cNvPr>
          <p:cNvPicPr>
            <a:picLocks noChangeAspect="1"/>
          </p:cNvPicPr>
          <p:nvPr/>
        </p:nvPicPr>
        <p:blipFill>
          <a:blip r:embed="rId9"/>
          <a:stretch>
            <a:fillRect/>
          </a:stretch>
        </p:blipFill>
        <p:spPr>
          <a:xfrm>
            <a:off x="5130176" y="4218441"/>
            <a:ext cx="4261938" cy="924129"/>
          </a:xfrm>
          <a:prstGeom prst="rect">
            <a:avLst/>
          </a:prstGeom>
        </p:spPr>
      </p:pic>
    </p:spTree>
    <p:extLst>
      <p:ext uri="{BB962C8B-B14F-4D97-AF65-F5344CB8AC3E}">
        <p14:creationId xmlns:p14="http://schemas.microsoft.com/office/powerpoint/2010/main" val="2451223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68C2D7-BC76-D197-2F5B-7A5B74CC94EB}"/>
              </a:ext>
            </a:extLst>
          </p:cNvPr>
          <p:cNvPicPr>
            <a:picLocks noChangeAspect="1"/>
          </p:cNvPicPr>
          <p:nvPr/>
        </p:nvPicPr>
        <p:blipFill>
          <a:blip r:embed="rId2"/>
          <a:stretch>
            <a:fillRect/>
          </a:stretch>
        </p:blipFill>
        <p:spPr>
          <a:xfrm>
            <a:off x="1538974" y="643467"/>
            <a:ext cx="3904851" cy="2543217"/>
          </a:xfrm>
          <a:prstGeom prst="rect">
            <a:avLst/>
          </a:prstGeom>
        </p:spPr>
      </p:pic>
      <p:cxnSp>
        <p:nvCxnSpPr>
          <p:cNvPr id="16" name="Straight Connector 15">
            <a:extLst>
              <a:ext uri="{FF2B5EF4-FFF2-40B4-BE49-F238E27FC236}">
                <a16:creationId xmlns:a16="http://schemas.microsoft.com/office/drawing/2014/main" id="{91B6081D-D3E8-4209-B85B-EB1C655A62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1214" y="1111170"/>
            <a:ext cx="11040" cy="4645103"/>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240D9CB-D068-3A1E-9E94-571A5D6247FE}"/>
              </a:ext>
            </a:extLst>
          </p:cNvPr>
          <p:cNvPicPr>
            <a:picLocks noChangeAspect="1"/>
          </p:cNvPicPr>
          <p:nvPr/>
        </p:nvPicPr>
        <p:blipFill>
          <a:blip r:embed="rId3"/>
          <a:stretch>
            <a:fillRect/>
          </a:stretch>
        </p:blipFill>
        <p:spPr>
          <a:xfrm>
            <a:off x="6473894" y="643467"/>
            <a:ext cx="4461784" cy="2543217"/>
          </a:xfrm>
          <a:prstGeom prst="rect">
            <a:avLst/>
          </a:prstGeom>
        </p:spPr>
      </p:pic>
      <p:cxnSp>
        <p:nvCxnSpPr>
          <p:cNvPr id="18" name="Straight Connector 17">
            <a:extLst>
              <a:ext uri="{FF2B5EF4-FFF2-40B4-BE49-F238E27FC236}">
                <a16:creationId xmlns:a16="http://schemas.microsoft.com/office/drawing/2014/main" id="{28CA55E4-1295-45C8-BA05-5A9E705B74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03027"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8C5794E-A9A1-4A23-AF68-C79A782233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610334" y="3428998"/>
            <a:ext cx="4188904" cy="1"/>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F1775D8-1026-308A-6985-9446A526B270}"/>
              </a:ext>
            </a:extLst>
          </p:cNvPr>
          <p:cNvPicPr>
            <a:picLocks noChangeAspect="1"/>
          </p:cNvPicPr>
          <p:nvPr/>
        </p:nvPicPr>
        <p:blipFill>
          <a:blip r:embed="rId4"/>
          <a:stretch>
            <a:fillRect/>
          </a:stretch>
        </p:blipFill>
        <p:spPr>
          <a:xfrm>
            <a:off x="1924715" y="3671316"/>
            <a:ext cx="3133368" cy="2545862"/>
          </a:xfrm>
          <a:prstGeom prst="rect">
            <a:avLst/>
          </a:prstGeom>
        </p:spPr>
      </p:pic>
      <p:pic>
        <p:nvPicPr>
          <p:cNvPr id="5" name="Picture 4">
            <a:extLst>
              <a:ext uri="{FF2B5EF4-FFF2-40B4-BE49-F238E27FC236}">
                <a16:creationId xmlns:a16="http://schemas.microsoft.com/office/drawing/2014/main" id="{2BAF77AC-AF5D-F602-771F-B0FC5C27C715}"/>
              </a:ext>
            </a:extLst>
          </p:cNvPr>
          <p:cNvPicPr>
            <a:picLocks noChangeAspect="1"/>
          </p:cNvPicPr>
          <p:nvPr/>
        </p:nvPicPr>
        <p:blipFill>
          <a:blip r:embed="rId5"/>
          <a:stretch>
            <a:fillRect/>
          </a:stretch>
        </p:blipFill>
        <p:spPr>
          <a:xfrm>
            <a:off x="7305625" y="3671316"/>
            <a:ext cx="2798322" cy="2553469"/>
          </a:xfrm>
          <a:prstGeom prst="rect">
            <a:avLst/>
          </a:prstGeom>
        </p:spPr>
      </p:pic>
    </p:spTree>
    <p:extLst>
      <p:ext uri="{BB962C8B-B14F-4D97-AF65-F5344CB8AC3E}">
        <p14:creationId xmlns:p14="http://schemas.microsoft.com/office/powerpoint/2010/main" val="1189993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E1054-0C12-DA15-7D17-BAF148B7A8C8}"/>
              </a:ext>
            </a:extLst>
          </p:cNvPr>
          <p:cNvSpPr>
            <a:spLocks noGrp="1"/>
          </p:cNvSpPr>
          <p:nvPr>
            <p:ph type="title"/>
          </p:nvPr>
        </p:nvSpPr>
        <p:spPr/>
        <p:txBody>
          <a:bodyPr/>
          <a:lstStyle/>
          <a:p>
            <a:r>
              <a:rPr lang="en-US" dirty="0"/>
              <a:t>Android deployment</a:t>
            </a:r>
            <a:endParaRPr lang="en-SG" dirty="0"/>
          </a:p>
        </p:txBody>
      </p:sp>
      <p:pic>
        <p:nvPicPr>
          <p:cNvPr id="5" name="Picture 4" descr="A screen shot of a phone&#10;&#10;Description automatically generated with medium confidence">
            <a:extLst>
              <a:ext uri="{FF2B5EF4-FFF2-40B4-BE49-F238E27FC236}">
                <a16:creationId xmlns:a16="http://schemas.microsoft.com/office/drawing/2014/main" id="{9AE4D608-A30B-815B-6B21-57509D03F3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996" y="1495287"/>
            <a:ext cx="3221102" cy="4997588"/>
          </a:xfrm>
          <a:prstGeom prst="rect">
            <a:avLst/>
          </a:prstGeom>
        </p:spPr>
      </p:pic>
      <p:pic>
        <p:nvPicPr>
          <p:cNvPr id="7" name="Picture 6" descr="A screen shot of a phone&#10;&#10;Description automatically generated with medium confidence">
            <a:extLst>
              <a:ext uri="{FF2B5EF4-FFF2-40B4-BE49-F238E27FC236}">
                <a16:creationId xmlns:a16="http://schemas.microsoft.com/office/drawing/2014/main" id="{9E448EB5-6002-25BF-5BC5-587D29E36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8037" y="1504951"/>
            <a:ext cx="3221102" cy="4987924"/>
          </a:xfrm>
          <a:prstGeom prst="rect">
            <a:avLst/>
          </a:prstGeom>
        </p:spPr>
      </p:pic>
      <p:pic>
        <p:nvPicPr>
          <p:cNvPr id="9" name="Picture 8" descr="A picture containing text, vehicle, mobile phone, car&#10;&#10;Description automatically generated">
            <a:extLst>
              <a:ext uri="{FF2B5EF4-FFF2-40B4-BE49-F238E27FC236}">
                <a16:creationId xmlns:a16="http://schemas.microsoft.com/office/drawing/2014/main" id="{176EBD14-4617-787D-76F9-AC88441834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26592" y="1495287"/>
            <a:ext cx="3340257" cy="4997588"/>
          </a:xfrm>
          <a:prstGeom prst="rect">
            <a:avLst/>
          </a:prstGeom>
        </p:spPr>
      </p:pic>
    </p:spTree>
    <p:extLst>
      <p:ext uri="{BB962C8B-B14F-4D97-AF65-F5344CB8AC3E}">
        <p14:creationId xmlns:p14="http://schemas.microsoft.com/office/powerpoint/2010/main" val="2683328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7CE0-040C-C546-E6CA-9CF07106A809}"/>
              </a:ext>
            </a:extLst>
          </p:cNvPr>
          <p:cNvSpPr>
            <a:spLocks noGrp="1"/>
          </p:cNvSpPr>
          <p:nvPr>
            <p:ph type="title"/>
          </p:nvPr>
        </p:nvSpPr>
        <p:spPr/>
        <p:txBody>
          <a:bodyPr/>
          <a:lstStyle/>
          <a:p>
            <a:r>
              <a:rPr lang="en-US" dirty="0"/>
              <a:t>Conclusion</a:t>
            </a:r>
            <a:endParaRPr lang="en-SG" dirty="0"/>
          </a:p>
        </p:txBody>
      </p:sp>
      <p:sp>
        <p:nvSpPr>
          <p:cNvPr id="3" name="Content Placeholder 2">
            <a:extLst>
              <a:ext uri="{FF2B5EF4-FFF2-40B4-BE49-F238E27FC236}">
                <a16:creationId xmlns:a16="http://schemas.microsoft.com/office/drawing/2014/main" id="{3D1099B9-6802-02CB-DA6D-980F77419556}"/>
              </a:ext>
            </a:extLst>
          </p:cNvPr>
          <p:cNvSpPr>
            <a:spLocks noGrp="1"/>
          </p:cNvSpPr>
          <p:nvPr>
            <p:ph idx="1"/>
          </p:nvPr>
        </p:nvSpPr>
        <p:spPr/>
        <p:txBody>
          <a:bodyPr/>
          <a:lstStyle/>
          <a:p>
            <a:r>
              <a:rPr lang="en-US" dirty="0"/>
              <a:t>Computational resources was a problem, since GoogleColab provides a limit to the RAM and GPU. Therefore, when running Bayesian Optimization, not a lot of parameters were fully explored and there is low number of iterations. Models also took a very long time to train there were cases where training was interrupted due to running out of RAM and the training had to be restarted over again</a:t>
            </a:r>
          </a:p>
          <a:p>
            <a:r>
              <a:rPr lang="en-US" dirty="0"/>
              <a:t>For future work, I would like to try </a:t>
            </a:r>
            <a:r>
              <a:rPr lang="en-US" dirty="0" err="1"/>
              <a:t>GoogleColab</a:t>
            </a:r>
            <a:r>
              <a:rPr lang="en-US" dirty="0"/>
              <a:t> Pro and explore more models such as vision transformers (</a:t>
            </a:r>
            <a:r>
              <a:rPr lang="en-US" dirty="0" err="1"/>
              <a:t>ViT</a:t>
            </a:r>
            <a:r>
              <a:rPr lang="en-US" dirty="0"/>
              <a:t>).  I would also like to explore other optimization method such as </a:t>
            </a:r>
            <a:r>
              <a:rPr lang="en-US" dirty="0" err="1"/>
              <a:t>GridSearch</a:t>
            </a:r>
            <a:r>
              <a:rPr lang="en-US"/>
              <a:t>. </a:t>
            </a:r>
            <a:endParaRPr lang="en-SG" dirty="0"/>
          </a:p>
        </p:txBody>
      </p:sp>
    </p:spTree>
    <p:extLst>
      <p:ext uri="{BB962C8B-B14F-4D97-AF65-F5344CB8AC3E}">
        <p14:creationId xmlns:p14="http://schemas.microsoft.com/office/powerpoint/2010/main" val="3086544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1578</Words>
  <Application>Microsoft Office PowerPoint</Application>
  <PresentationFormat>Widescreen</PresentationFormat>
  <Paragraphs>124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CIFAR10 Image Classification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Android deployment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CIFAR10 Image Classification</dc:title>
  <dc:creator>LIM MING AN 2102511I</dc:creator>
  <cp:lastModifiedBy>LIM MING AN 2102511I</cp:lastModifiedBy>
  <cp:revision>4</cp:revision>
  <dcterms:created xsi:type="dcterms:W3CDTF">2023-06-04T10:06:00Z</dcterms:created>
  <dcterms:modified xsi:type="dcterms:W3CDTF">2023-06-04T16:13:35Z</dcterms:modified>
</cp:coreProperties>
</file>